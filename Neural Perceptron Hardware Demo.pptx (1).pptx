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1" r:id="rId22"/>
    <p:sldId id="277" r:id="rId23"/>
    <p:sldId id="278" r:id="rId24"/>
  </p:sldIdLst>
  <p:sldSz cx="18288000" cy="10287000"/>
  <p:notesSz cx="6858000" cy="9144000"/>
  <p:embeddedFontLst>
    <p:embeddedFont>
      <p:font typeface="Garet"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122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7.xml"/><Relationship Id="rId5" Type="http://schemas.openxmlformats.org/officeDocument/2006/relationships/image" Target="../media/image35.jpeg"/><Relationship Id="rId4" Type="http://schemas.openxmlformats.org/officeDocument/2006/relationships/image" Target="../media/image34.jpeg"/></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28700" y="5127431"/>
            <a:ext cx="2751420" cy="1173366"/>
          </a:xfrm>
          <a:custGeom>
            <a:avLst/>
            <a:gdLst/>
            <a:ahLst/>
            <a:cxnLst/>
            <a:rect l="l" t="t" r="r" b="b"/>
            <a:pathLst>
              <a:path w="2751420" h="1173366">
                <a:moveTo>
                  <a:pt x="0" y="0"/>
                </a:moveTo>
                <a:lnTo>
                  <a:pt x="2751420" y="0"/>
                </a:lnTo>
                <a:lnTo>
                  <a:pt x="2751420" y="1173366"/>
                </a:lnTo>
                <a:lnTo>
                  <a:pt x="0" y="11733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3513973" y="1993106"/>
            <a:ext cx="4130945" cy="6300788"/>
            <a:chOff x="0" y="0"/>
            <a:chExt cx="5507926" cy="8401050"/>
          </a:xfrm>
        </p:grpSpPr>
        <p:sp>
          <p:nvSpPr>
            <p:cNvPr id="4" name="Freeform 4"/>
            <p:cNvSpPr/>
            <p:nvPr/>
          </p:nvSpPr>
          <p:spPr>
            <a:xfrm>
              <a:off x="0" y="0"/>
              <a:ext cx="5507863" cy="8401050"/>
            </a:xfrm>
            <a:custGeom>
              <a:avLst/>
              <a:gdLst/>
              <a:ahLst/>
              <a:cxnLst/>
              <a:rect l="l" t="t" r="r" b="b"/>
              <a:pathLst>
                <a:path w="5507863" h="8401050">
                  <a:moveTo>
                    <a:pt x="241935" y="0"/>
                  </a:moveTo>
                  <a:lnTo>
                    <a:pt x="5265928" y="0"/>
                  </a:lnTo>
                  <a:cubicBezTo>
                    <a:pt x="5399532" y="0"/>
                    <a:pt x="5507863" y="108331"/>
                    <a:pt x="5507863" y="241935"/>
                  </a:cubicBezTo>
                  <a:lnTo>
                    <a:pt x="5507863" y="8159115"/>
                  </a:lnTo>
                  <a:cubicBezTo>
                    <a:pt x="5507863" y="8292719"/>
                    <a:pt x="5399532" y="8401050"/>
                    <a:pt x="5265928" y="8401050"/>
                  </a:cubicBezTo>
                  <a:lnTo>
                    <a:pt x="241935" y="8401050"/>
                  </a:lnTo>
                  <a:cubicBezTo>
                    <a:pt x="108331" y="8401050"/>
                    <a:pt x="0" y="8292719"/>
                    <a:pt x="0" y="8159115"/>
                  </a:cubicBezTo>
                  <a:lnTo>
                    <a:pt x="0" y="241935"/>
                  </a:lnTo>
                  <a:cubicBezTo>
                    <a:pt x="0" y="108331"/>
                    <a:pt x="108331" y="0"/>
                    <a:pt x="241935" y="0"/>
                  </a:cubicBezTo>
                  <a:close/>
                </a:path>
              </a:pathLst>
            </a:custGeom>
            <a:blipFill>
              <a:blip r:embed="rId3"/>
              <a:stretch>
                <a:fillRect l="-1409" r="-1410"/>
              </a:stretch>
            </a:blipFill>
          </p:spPr>
        </p:sp>
      </p:grpSp>
      <p:grpSp>
        <p:nvGrpSpPr>
          <p:cNvPr id="5" name="Group 5"/>
          <p:cNvGrpSpPr/>
          <p:nvPr/>
        </p:nvGrpSpPr>
        <p:grpSpPr>
          <a:xfrm>
            <a:off x="0" y="0"/>
            <a:ext cx="2177996" cy="2177996"/>
            <a:chOff x="0" y="0"/>
            <a:chExt cx="2903995" cy="2903995"/>
          </a:xfrm>
        </p:grpSpPr>
        <p:sp>
          <p:nvSpPr>
            <p:cNvPr id="6" name="Freeform 6"/>
            <p:cNvSpPr/>
            <p:nvPr/>
          </p:nvSpPr>
          <p:spPr>
            <a:xfrm>
              <a:off x="0" y="0"/>
              <a:ext cx="2903982" cy="2903982"/>
            </a:xfrm>
            <a:custGeom>
              <a:avLst/>
              <a:gdLst/>
              <a:ahLst/>
              <a:cxnLst/>
              <a:rect l="l" t="t" r="r" b="b"/>
              <a:pathLst>
                <a:path w="2903982" h="2903982">
                  <a:moveTo>
                    <a:pt x="0" y="0"/>
                  </a:moveTo>
                  <a:lnTo>
                    <a:pt x="2903982" y="0"/>
                  </a:lnTo>
                  <a:lnTo>
                    <a:pt x="2903982" y="2903982"/>
                  </a:lnTo>
                  <a:lnTo>
                    <a:pt x="0" y="2903982"/>
                  </a:lnTo>
                  <a:lnTo>
                    <a:pt x="0" y="0"/>
                  </a:lnTo>
                  <a:close/>
                </a:path>
              </a:pathLst>
            </a:custGeom>
            <a:blipFill>
              <a:blip r:embed="rId4"/>
              <a:stretch>
                <a:fillRect/>
              </a:stretch>
            </a:blipFill>
          </p:spPr>
        </p:sp>
      </p:grpSp>
      <p:grpSp>
        <p:nvGrpSpPr>
          <p:cNvPr id="7" name="Group 7"/>
          <p:cNvGrpSpPr/>
          <p:nvPr/>
        </p:nvGrpSpPr>
        <p:grpSpPr>
          <a:xfrm>
            <a:off x="15863859" y="0"/>
            <a:ext cx="2424141" cy="2148345"/>
            <a:chOff x="0" y="0"/>
            <a:chExt cx="3232188" cy="2864460"/>
          </a:xfrm>
        </p:grpSpPr>
        <p:sp>
          <p:nvSpPr>
            <p:cNvPr id="8" name="Freeform 8"/>
            <p:cNvSpPr/>
            <p:nvPr/>
          </p:nvSpPr>
          <p:spPr>
            <a:xfrm>
              <a:off x="0" y="0"/>
              <a:ext cx="3232150" cy="2864485"/>
            </a:xfrm>
            <a:custGeom>
              <a:avLst/>
              <a:gdLst/>
              <a:ahLst/>
              <a:cxnLst/>
              <a:rect l="l" t="t" r="r" b="b"/>
              <a:pathLst>
                <a:path w="3232150" h="2864485">
                  <a:moveTo>
                    <a:pt x="0" y="0"/>
                  </a:moveTo>
                  <a:lnTo>
                    <a:pt x="3232150" y="0"/>
                  </a:lnTo>
                  <a:lnTo>
                    <a:pt x="3232150" y="2864485"/>
                  </a:lnTo>
                  <a:lnTo>
                    <a:pt x="0" y="2864485"/>
                  </a:lnTo>
                  <a:lnTo>
                    <a:pt x="0" y="0"/>
                  </a:lnTo>
                  <a:close/>
                </a:path>
              </a:pathLst>
            </a:custGeom>
            <a:blipFill>
              <a:blip r:embed="rId5"/>
              <a:stretch>
                <a:fillRect r="-1"/>
              </a:stretch>
            </a:blipFill>
          </p:spPr>
        </p:sp>
      </p:grpSp>
      <p:sp>
        <p:nvSpPr>
          <p:cNvPr id="9" name="TextBox 9"/>
          <p:cNvSpPr txBox="1"/>
          <p:nvPr/>
        </p:nvSpPr>
        <p:spPr>
          <a:xfrm>
            <a:off x="8263861" y="3279467"/>
            <a:ext cx="8812063" cy="4423391"/>
          </a:xfrm>
          <a:prstGeom prst="rect">
            <a:avLst/>
          </a:prstGeom>
        </p:spPr>
        <p:txBody>
          <a:bodyPr lIns="0" tIns="0" rIns="0" bIns="0" rtlCol="0" anchor="t">
            <a:spAutoFit/>
          </a:bodyPr>
          <a:lstStyle/>
          <a:p>
            <a:pPr algn="l">
              <a:lnSpc>
                <a:spcPts val="12041"/>
              </a:lnSpc>
            </a:pPr>
            <a:r>
              <a:rPr lang="en-US" sz="12041" spc="-842">
                <a:gradFill>
                  <a:gsLst>
                    <a:gs pos="0">
                      <a:srgbClr val="FDFDFD">
                        <a:alpha val="100000"/>
                      </a:srgbClr>
                    </a:gs>
                    <a:gs pos="100000">
                      <a:srgbClr val="747474">
                        <a:alpha val="100000"/>
                      </a:srgbClr>
                    </a:gs>
                  </a:gsLst>
                  <a:lin ang="0"/>
                </a:gradFill>
                <a:latin typeface="Garet"/>
                <a:ea typeface="Garet"/>
                <a:cs typeface="Garet"/>
                <a:sym typeface="Garet"/>
              </a:rPr>
              <a:t>Heart  Attack Risk </a:t>
            </a:r>
          </a:p>
          <a:p>
            <a:pPr algn="l">
              <a:lnSpc>
                <a:spcPts val="12041"/>
              </a:lnSpc>
            </a:pPr>
            <a:r>
              <a:rPr lang="en-US" sz="12041" spc="-842">
                <a:gradFill>
                  <a:gsLst>
                    <a:gs pos="0">
                      <a:srgbClr val="FDFDFD">
                        <a:alpha val="100000"/>
                      </a:srgbClr>
                    </a:gs>
                    <a:gs pos="100000">
                      <a:srgbClr val="747474">
                        <a:alpha val="100000"/>
                      </a:srgbClr>
                    </a:gs>
                  </a:gsLst>
                  <a:lin ang="0"/>
                </a:gradFill>
                <a:latin typeface="Garet"/>
                <a:ea typeface="Garet"/>
                <a:cs typeface="Garet"/>
                <a:sym typeface="Garet"/>
              </a:rPr>
              <a:t>Detector</a:t>
            </a:r>
          </a:p>
        </p:txBody>
      </p:sp>
      <p:sp>
        <p:nvSpPr>
          <p:cNvPr id="10" name="TextBox 10"/>
          <p:cNvSpPr txBox="1"/>
          <p:nvPr/>
        </p:nvSpPr>
        <p:spPr>
          <a:xfrm>
            <a:off x="8263861" y="2034045"/>
            <a:ext cx="7923295" cy="537839"/>
          </a:xfrm>
          <a:prstGeom prst="rect">
            <a:avLst/>
          </a:prstGeom>
        </p:spPr>
        <p:txBody>
          <a:bodyPr lIns="0" tIns="0" rIns="0" bIns="0" rtlCol="0" anchor="t">
            <a:spAutoFit/>
          </a:bodyPr>
          <a:lstStyle/>
          <a:p>
            <a:pPr algn="l">
              <a:lnSpc>
                <a:spcPts val="3955"/>
              </a:lnSpc>
            </a:pPr>
            <a:r>
              <a:rPr lang="en-US" sz="2825" spc="-98">
                <a:gradFill>
                  <a:gsLst>
                    <a:gs pos="0">
                      <a:srgbClr val="FDFDFD">
                        <a:alpha val="100000"/>
                      </a:srgbClr>
                    </a:gs>
                    <a:gs pos="100000">
                      <a:srgbClr val="A678FF">
                        <a:alpha val="100000"/>
                      </a:srgbClr>
                    </a:gs>
                  </a:gsLst>
                  <a:lin ang="0"/>
                </a:gradFill>
                <a:latin typeface="Garet"/>
                <a:ea typeface="Garet"/>
                <a:cs typeface="Garet"/>
                <a:sym typeface="Garet"/>
              </a:rPr>
              <a:t>A Hardware Implementation using Verilog HDL</a:t>
            </a:r>
          </a:p>
        </p:txBody>
      </p:sp>
      <p:sp>
        <p:nvSpPr>
          <p:cNvPr id="11" name="TextBox 11"/>
          <p:cNvSpPr txBox="1"/>
          <p:nvPr/>
        </p:nvSpPr>
        <p:spPr>
          <a:xfrm>
            <a:off x="8263861" y="8328346"/>
            <a:ext cx="8812063" cy="507368"/>
          </a:xfrm>
          <a:prstGeom prst="rect">
            <a:avLst/>
          </a:prstGeom>
        </p:spPr>
        <p:txBody>
          <a:bodyPr lIns="0" tIns="0" rIns="0" bIns="0" rtlCol="0" anchor="t">
            <a:spAutoFit/>
          </a:bodyPr>
          <a:lstStyle/>
          <a:p>
            <a:pPr algn="l">
              <a:lnSpc>
                <a:spcPts val="4599"/>
              </a:lnSpc>
            </a:pPr>
            <a:r>
              <a:rPr lang="en-US" sz="4599" spc="-321">
                <a:gradFill>
                  <a:gsLst>
                    <a:gs pos="0">
                      <a:srgbClr val="FDFDFD">
                        <a:alpha val="100000"/>
                      </a:srgbClr>
                    </a:gs>
                    <a:gs pos="100000">
                      <a:srgbClr val="747474">
                        <a:alpha val="100000"/>
                      </a:srgbClr>
                    </a:gs>
                  </a:gsLst>
                  <a:lin ang="0"/>
                </a:gradFill>
                <a:latin typeface="Garet"/>
                <a:ea typeface="Garet"/>
                <a:cs typeface="Garet"/>
                <a:sym typeface="Garet"/>
              </a:rPr>
              <a:t>Using Perceptron Classifier</a:t>
            </a:r>
          </a:p>
        </p:txBody>
      </p:sp>
      <p:sp>
        <p:nvSpPr>
          <p:cNvPr id="12" name="TextBox 12"/>
          <p:cNvSpPr txBox="1"/>
          <p:nvPr/>
        </p:nvSpPr>
        <p:spPr>
          <a:xfrm>
            <a:off x="3142564" y="234401"/>
            <a:ext cx="12002881" cy="748027"/>
          </a:xfrm>
          <a:prstGeom prst="rect">
            <a:avLst/>
          </a:prstGeom>
        </p:spPr>
        <p:txBody>
          <a:bodyPr lIns="0" tIns="0" rIns="0" bIns="0" rtlCol="0" anchor="t">
            <a:spAutoFit/>
          </a:bodyPr>
          <a:lstStyle/>
          <a:p>
            <a:pPr algn="l">
              <a:lnSpc>
                <a:spcPts val="5495"/>
              </a:lnSpc>
            </a:pPr>
            <a:r>
              <a:rPr lang="en-US" sz="3925" spc="-137">
                <a:gradFill>
                  <a:gsLst>
                    <a:gs pos="0">
                      <a:srgbClr val="FDFDFD">
                        <a:alpha val="100000"/>
                      </a:srgbClr>
                    </a:gs>
                    <a:gs pos="100000">
                      <a:srgbClr val="A678FF">
                        <a:alpha val="100000"/>
                      </a:srgbClr>
                    </a:gs>
                  </a:gsLst>
                  <a:lin ang="0"/>
                </a:gradFill>
                <a:latin typeface="Garet"/>
                <a:ea typeface="Garet"/>
                <a:cs typeface="Garet"/>
                <a:sym typeface="Garet"/>
              </a:rPr>
              <a:t>Sarvajanik College of Engineering and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1201400" y="721995"/>
            <a:ext cx="6057900" cy="3787864"/>
            <a:chOff x="0" y="0"/>
            <a:chExt cx="8077200" cy="5050485"/>
          </a:xfrm>
        </p:grpSpPr>
        <p:sp>
          <p:nvSpPr>
            <p:cNvPr id="3" name="Freeform 3"/>
            <p:cNvSpPr/>
            <p:nvPr/>
          </p:nvSpPr>
          <p:spPr>
            <a:xfrm>
              <a:off x="0" y="0"/>
              <a:ext cx="8077200" cy="5050536"/>
            </a:xfrm>
            <a:custGeom>
              <a:avLst/>
              <a:gdLst/>
              <a:ahLst/>
              <a:cxnLst/>
              <a:rect l="l" t="t" r="r" b="b"/>
              <a:pathLst>
                <a:path w="8077200" h="5050536">
                  <a:moveTo>
                    <a:pt x="164973" y="0"/>
                  </a:moveTo>
                  <a:lnTo>
                    <a:pt x="7912227" y="0"/>
                  </a:lnTo>
                  <a:cubicBezTo>
                    <a:pt x="8003286" y="0"/>
                    <a:pt x="8077200" y="73914"/>
                    <a:pt x="8077200" y="164973"/>
                  </a:cubicBezTo>
                  <a:lnTo>
                    <a:pt x="8077200" y="4885563"/>
                  </a:lnTo>
                  <a:cubicBezTo>
                    <a:pt x="8077200" y="4929378"/>
                    <a:pt x="8059801" y="4971288"/>
                    <a:pt x="8028940" y="5002276"/>
                  </a:cubicBezTo>
                  <a:cubicBezTo>
                    <a:pt x="7998079" y="5033264"/>
                    <a:pt x="7956042" y="5050536"/>
                    <a:pt x="7912227" y="5050536"/>
                  </a:cubicBezTo>
                  <a:lnTo>
                    <a:pt x="164973" y="5050536"/>
                  </a:lnTo>
                  <a:cubicBezTo>
                    <a:pt x="121158" y="5050536"/>
                    <a:pt x="79248" y="5033137"/>
                    <a:pt x="48260" y="5002276"/>
                  </a:cubicBezTo>
                  <a:cubicBezTo>
                    <a:pt x="17272" y="4971415"/>
                    <a:pt x="0" y="4929251"/>
                    <a:pt x="0" y="4885563"/>
                  </a:cubicBezTo>
                  <a:lnTo>
                    <a:pt x="0" y="164973"/>
                  </a:lnTo>
                  <a:cubicBezTo>
                    <a:pt x="0" y="121285"/>
                    <a:pt x="17399" y="79248"/>
                    <a:pt x="48387" y="48387"/>
                  </a:cubicBezTo>
                  <a:cubicBezTo>
                    <a:pt x="79375" y="17526"/>
                    <a:pt x="121285" y="0"/>
                    <a:pt x="164973" y="0"/>
                  </a:cubicBezTo>
                  <a:close/>
                </a:path>
              </a:pathLst>
            </a:custGeom>
            <a:blipFill>
              <a:blip r:embed="rId2"/>
              <a:stretch>
                <a:fillRect t="-3912" b="-3911"/>
              </a:stretch>
            </a:blipFill>
          </p:spPr>
        </p:sp>
      </p:grpSp>
      <p:grpSp>
        <p:nvGrpSpPr>
          <p:cNvPr id="4" name="Group 4"/>
          <p:cNvGrpSpPr/>
          <p:nvPr/>
        </p:nvGrpSpPr>
        <p:grpSpPr>
          <a:xfrm>
            <a:off x="1028700" y="1028700"/>
            <a:ext cx="447675" cy="447675"/>
            <a:chOff x="0" y="0"/>
            <a:chExt cx="596900" cy="596900"/>
          </a:xfrm>
        </p:grpSpPr>
        <p:sp>
          <p:nvSpPr>
            <p:cNvPr id="5" name="Freeform 5"/>
            <p:cNvSpPr/>
            <p:nvPr/>
          </p:nvSpPr>
          <p:spPr>
            <a:xfrm>
              <a:off x="0" y="0"/>
              <a:ext cx="596900" cy="596900"/>
            </a:xfrm>
            <a:custGeom>
              <a:avLst/>
              <a:gdLst/>
              <a:ahLst/>
              <a:cxnLst/>
              <a:rect l="l" t="t" r="r" b="b"/>
              <a:pathLst>
                <a:path w="596900" h="596900">
                  <a:moveTo>
                    <a:pt x="0" y="0"/>
                  </a:moveTo>
                  <a:lnTo>
                    <a:pt x="596900" y="0"/>
                  </a:lnTo>
                  <a:lnTo>
                    <a:pt x="596900" y="596900"/>
                  </a:lnTo>
                  <a:lnTo>
                    <a:pt x="0" y="596900"/>
                  </a:lnTo>
                  <a:lnTo>
                    <a:pt x="0" y="0"/>
                  </a:lnTo>
                  <a:close/>
                </a:path>
              </a:pathLst>
            </a:custGeom>
            <a:solidFill>
              <a:srgbClr val="00C4CC"/>
            </a:solidFill>
          </p:spPr>
        </p:sp>
      </p:grpSp>
      <p:sp>
        <p:nvSpPr>
          <p:cNvPr id="6" name="Freeform 6"/>
          <p:cNvSpPr/>
          <p:nvPr/>
        </p:nvSpPr>
        <p:spPr>
          <a:xfrm>
            <a:off x="5702427" y="4704445"/>
            <a:ext cx="3922881" cy="924115"/>
          </a:xfrm>
          <a:custGeom>
            <a:avLst/>
            <a:gdLst/>
            <a:ahLst/>
            <a:cxnLst/>
            <a:rect l="l" t="t" r="r" b="b"/>
            <a:pathLst>
              <a:path w="3922881" h="924115">
                <a:moveTo>
                  <a:pt x="0" y="0"/>
                </a:moveTo>
                <a:lnTo>
                  <a:pt x="3922881" y="0"/>
                </a:lnTo>
                <a:lnTo>
                  <a:pt x="3922881" y="924116"/>
                </a:lnTo>
                <a:lnTo>
                  <a:pt x="0" y="92411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7663872" y="4692091"/>
            <a:ext cx="6851971" cy="948814"/>
          </a:xfrm>
          <a:custGeom>
            <a:avLst/>
            <a:gdLst/>
            <a:ahLst/>
            <a:cxnLst/>
            <a:rect l="l" t="t" r="r" b="b"/>
            <a:pathLst>
              <a:path w="6851971" h="948814">
                <a:moveTo>
                  <a:pt x="0" y="0"/>
                </a:moveTo>
                <a:lnTo>
                  <a:pt x="6851971" y="0"/>
                </a:lnTo>
                <a:lnTo>
                  <a:pt x="6851971" y="948814"/>
                </a:lnTo>
                <a:lnTo>
                  <a:pt x="0" y="94881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1028700" y="4078376"/>
            <a:ext cx="1173366" cy="1806559"/>
          </a:xfrm>
          <a:custGeom>
            <a:avLst/>
            <a:gdLst/>
            <a:ahLst/>
            <a:cxnLst/>
            <a:rect l="l" t="t" r="r" b="b"/>
            <a:pathLst>
              <a:path w="1173366" h="1806559">
                <a:moveTo>
                  <a:pt x="0" y="0"/>
                </a:moveTo>
                <a:lnTo>
                  <a:pt x="1173366" y="0"/>
                </a:lnTo>
                <a:lnTo>
                  <a:pt x="1173366" y="1806560"/>
                </a:lnTo>
                <a:lnTo>
                  <a:pt x="0" y="1806560"/>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028700" y="5761111"/>
            <a:ext cx="3671964" cy="3476625"/>
            <a:chOff x="0" y="0"/>
            <a:chExt cx="4895952" cy="4635500"/>
          </a:xfrm>
        </p:grpSpPr>
        <p:sp>
          <p:nvSpPr>
            <p:cNvPr id="10" name="Freeform 10"/>
            <p:cNvSpPr/>
            <p:nvPr/>
          </p:nvSpPr>
          <p:spPr>
            <a:xfrm>
              <a:off x="0" y="0"/>
              <a:ext cx="4895977" cy="4635500"/>
            </a:xfrm>
            <a:custGeom>
              <a:avLst/>
              <a:gdLst/>
              <a:ahLst/>
              <a:cxnLst/>
              <a:rect l="l" t="t" r="r" b="b"/>
              <a:pathLst>
                <a:path w="4895977" h="4635500">
                  <a:moveTo>
                    <a:pt x="272161" y="0"/>
                  </a:moveTo>
                  <a:lnTo>
                    <a:pt x="4623816" y="0"/>
                  </a:lnTo>
                  <a:cubicBezTo>
                    <a:pt x="4774184" y="0"/>
                    <a:pt x="4895977" y="121793"/>
                    <a:pt x="4895977" y="272161"/>
                  </a:cubicBezTo>
                  <a:lnTo>
                    <a:pt x="4895977" y="4363339"/>
                  </a:lnTo>
                  <a:cubicBezTo>
                    <a:pt x="4895977" y="4513707"/>
                    <a:pt x="4774057" y="4635500"/>
                    <a:pt x="4623816" y="4635500"/>
                  </a:cubicBezTo>
                  <a:lnTo>
                    <a:pt x="272161" y="4635500"/>
                  </a:lnTo>
                  <a:cubicBezTo>
                    <a:pt x="121793" y="4635500"/>
                    <a:pt x="0" y="4513580"/>
                    <a:pt x="0" y="4363339"/>
                  </a:cubicBezTo>
                  <a:lnTo>
                    <a:pt x="0" y="272161"/>
                  </a:lnTo>
                  <a:cubicBezTo>
                    <a:pt x="0" y="121793"/>
                    <a:pt x="121793" y="0"/>
                    <a:pt x="272161" y="0"/>
                  </a:cubicBezTo>
                  <a:close/>
                </a:path>
              </a:pathLst>
            </a:custGeom>
            <a:blipFill>
              <a:blip r:embed="rId6"/>
              <a:stretch>
                <a:fillRect t="-2809" b="-2809"/>
              </a:stretch>
            </a:blipFill>
          </p:spPr>
        </p:sp>
      </p:grpSp>
      <p:sp>
        <p:nvSpPr>
          <p:cNvPr id="11" name="TextBox 11"/>
          <p:cNvSpPr txBox="1"/>
          <p:nvPr/>
        </p:nvSpPr>
        <p:spPr>
          <a:xfrm>
            <a:off x="3671964" y="1160145"/>
            <a:ext cx="7342746" cy="2899334"/>
          </a:xfrm>
          <a:prstGeom prst="rect">
            <a:avLst/>
          </a:prstGeom>
        </p:spPr>
        <p:txBody>
          <a:bodyPr lIns="0" tIns="0" rIns="0" bIns="0" rtlCol="0" anchor="t">
            <a:spAutoFit/>
          </a:bodyPr>
          <a:lstStyle/>
          <a:p>
            <a:pPr algn="l">
              <a:lnSpc>
                <a:spcPts val="12010"/>
              </a:lnSpc>
            </a:pPr>
            <a:r>
              <a:rPr lang="en-US" sz="12010" spc="-840">
                <a:gradFill>
                  <a:gsLst>
                    <a:gs pos="0">
                      <a:srgbClr val="FDFDFD">
                        <a:alpha val="100000"/>
                      </a:srgbClr>
                    </a:gs>
                    <a:gs pos="100000">
                      <a:srgbClr val="747474">
                        <a:alpha val="100000"/>
                      </a:srgbClr>
                    </a:gs>
                  </a:gsLst>
                  <a:lin ang="0"/>
                </a:gradFill>
                <a:latin typeface="Garet"/>
                <a:ea typeface="Garet"/>
                <a:cs typeface="Garet"/>
                <a:sym typeface="Garet"/>
              </a:rPr>
              <a:t>Group Members</a:t>
            </a:r>
          </a:p>
        </p:txBody>
      </p:sp>
      <p:sp>
        <p:nvSpPr>
          <p:cNvPr id="12" name="TextBox 12"/>
          <p:cNvSpPr txBox="1"/>
          <p:nvPr/>
        </p:nvSpPr>
        <p:spPr>
          <a:xfrm>
            <a:off x="8410927" y="4757490"/>
            <a:ext cx="5357860" cy="705899"/>
          </a:xfrm>
          <a:prstGeom prst="rect">
            <a:avLst/>
          </a:prstGeom>
        </p:spPr>
        <p:txBody>
          <a:bodyPr lIns="0" tIns="0" rIns="0" bIns="0" rtlCol="0" anchor="t">
            <a:spAutoFit/>
          </a:bodyPr>
          <a:lstStyle/>
          <a:p>
            <a:pPr algn="ctr">
              <a:lnSpc>
                <a:spcPts val="5738"/>
              </a:lnSpc>
            </a:pPr>
            <a:r>
              <a:rPr lang="en-US" sz="4098" dirty="0">
                <a:solidFill>
                  <a:srgbClr val="FDFDFD"/>
                </a:solidFill>
                <a:latin typeface="Garet"/>
                <a:ea typeface="Garet"/>
                <a:cs typeface="Garet"/>
                <a:sym typeface="Garet"/>
              </a:rPr>
              <a:t>Team 8-Bit Coders</a:t>
            </a:r>
          </a:p>
        </p:txBody>
      </p:sp>
      <p:sp>
        <p:nvSpPr>
          <p:cNvPr id="13" name="TextBox 13"/>
          <p:cNvSpPr txBox="1"/>
          <p:nvPr/>
        </p:nvSpPr>
        <p:spPr>
          <a:xfrm>
            <a:off x="4861370" y="5713486"/>
            <a:ext cx="13129355" cy="2965818"/>
          </a:xfrm>
          <a:prstGeom prst="rect">
            <a:avLst/>
          </a:prstGeom>
        </p:spPr>
        <p:txBody>
          <a:bodyPr lIns="0" tIns="0" rIns="0" bIns="0" rtlCol="0" anchor="t">
            <a:spAutoFit/>
          </a:bodyPr>
          <a:lstStyle/>
          <a:p>
            <a:pPr algn="l">
              <a:lnSpc>
                <a:spcPts val="5749"/>
              </a:lnSpc>
            </a:pPr>
            <a:r>
              <a:rPr lang="en-US" sz="4106">
                <a:solidFill>
                  <a:srgbClr val="FDFDFD"/>
                </a:solidFill>
                <a:latin typeface="Garet"/>
                <a:ea typeface="Garet"/>
                <a:cs typeface="Garet"/>
                <a:sym typeface="Garet"/>
              </a:rPr>
              <a:t>Dhwanil Desai      Enrollment No.:-ET24BTEC701</a:t>
            </a:r>
          </a:p>
          <a:p>
            <a:pPr algn="l">
              <a:lnSpc>
                <a:spcPts val="5749"/>
              </a:lnSpc>
            </a:pPr>
            <a:r>
              <a:rPr lang="en-US" sz="4106">
                <a:solidFill>
                  <a:srgbClr val="FDFDFD"/>
                </a:solidFill>
                <a:latin typeface="Garet"/>
                <a:ea typeface="Garet"/>
                <a:cs typeface="Garet"/>
                <a:sym typeface="Garet"/>
              </a:rPr>
              <a:t>Karan Trivedi         Enrollment No.:- ET24BTEC064</a:t>
            </a:r>
          </a:p>
          <a:p>
            <a:pPr algn="l">
              <a:lnSpc>
                <a:spcPts val="5749"/>
              </a:lnSpc>
            </a:pPr>
            <a:r>
              <a:rPr lang="en-US" sz="4106">
                <a:solidFill>
                  <a:srgbClr val="FDFDFD"/>
                </a:solidFill>
                <a:latin typeface="Garet"/>
                <a:ea typeface="Garet"/>
                <a:cs typeface="Garet"/>
                <a:sym typeface="Garet"/>
              </a:rPr>
              <a:t>Dhyey Shah           Enrollment No.:-ET24BTEC054</a:t>
            </a:r>
          </a:p>
          <a:p>
            <a:pPr algn="l">
              <a:lnSpc>
                <a:spcPts val="5749"/>
              </a:lnSpc>
            </a:pPr>
            <a:r>
              <a:rPr lang="en-US" sz="4106">
                <a:solidFill>
                  <a:srgbClr val="FDFDFD"/>
                </a:solidFill>
                <a:latin typeface="Garet"/>
                <a:ea typeface="Garet"/>
                <a:cs typeface="Garet"/>
                <a:sym typeface="Garet"/>
              </a:rPr>
              <a:t>Krutarth Sonicha Enrollment No.:- ET25BTEC808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4184030" y="3476682"/>
            <a:ext cx="3075270" cy="1173366"/>
          </a:xfrm>
          <a:custGeom>
            <a:avLst/>
            <a:gdLst/>
            <a:ahLst/>
            <a:cxnLst/>
            <a:rect l="l" t="t" r="r" b="b"/>
            <a:pathLst>
              <a:path w="3075270" h="1173366">
                <a:moveTo>
                  <a:pt x="0" y="0"/>
                </a:moveTo>
                <a:lnTo>
                  <a:pt x="3075270" y="0"/>
                </a:lnTo>
                <a:lnTo>
                  <a:pt x="3075270" y="1173366"/>
                </a:lnTo>
                <a:lnTo>
                  <a:pt x="0" y="11733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9126407" y="3476682"/>
            <a:ext cx="5178695" cy="5781618"/>
            <a:chOff x="0" y="0"/>
            <a:chExt cx="6904927" cy="7708824"/>
          </a:xfrm>
        </p:grpSpPr>
        <p:sp>
          <p:nvSpPr>
            <p:cNvPr id="4" name="Freeform 4"/>
            <p:cNvSpPr/>
            <p:nvPr/>
          </p:nvSpPr>
          <p:spPr>
            <a:xfrm>
              <a:off x="0" y="0"/>
              <a:ext cx="6904990" cy="7708900"/>
            </a:xfrm>
            <a:custGeom>
              <a:avLst/>
              <a:gdLst/>
              <a:ahLst/>
              <a:cxnLst/>
              <a:rect l="l" t="t" r="r" b="b"/>
              <a:pathLst>
                <a:path w="6904990" h="7708900">
                  <a:moveTo>
                    <a:pt x="193040" y="0"/>
                  </a:moveTo>
                  <a:lnTo>
                    <a:pt x="6711950" y="0"/>
                  </a:lnTo>
                  <a:cubicBezTo>
                    <a:pt x="6818503" y="0"/>
                    <a:pt x="6904990" y="86360"/>
                    <a:pt x="6904990" y="193040"/>
                  </a:cubicBezTo>
                  <a:lnTo>
                    <a:pt x="6904990" y="7515860"/>
                  </a:lnTo>
                  <a:cubicBezTo>
                    <a:pt x="6904990" y="7622413"/>
                    <a:pt x="6818630" y="7708900"/>
                    <a:pt x="6711950" y="7708900"/>
                  </a:cubicBezTo>
                  <a:lnTo>
                    <a:pt x="193040" y="7708900"/>
                  </a:lnTo>
                  <a:cubicBezTo>
                    <a:pt x="86487" y="7708900"/>
                    <a:pt x="0" y="7622540"/>
                    <a:pt x="0" y="7515860"/>
                  </a:cubicBezTo>
                  <a:lnTo>
                    <a:pt x="0" y="193040"/>
                  </a:lnTo>
                  <a:cubicBezTo>
                    <a:pt x="0" y="86360"/>
                    <a:pt x="86360" y="0"/>
                    <a:pt x="193040" y="0"/>
                  </a:cubicBezTo>
                  <a:close/>
                </a:path>
              </a:pathLst>
            </a:custGeom>
            <a:blipFill>
              <a:blip r:embed="rId3"/>
              <a:stretch>
                <a:fillRect t="-5306" b="-5305"/>
              </a:stretch>
            </a:blipFill>
          </p:spPr>
        </p:sp>
      </p:grpSp>
      <p:sp>
        <p:nvSpPr>
          <p:cNvPr id="5" name="TextBox 5"/>
          <p:cNvSpPr txBox="1"/>
          <p:nvPr/>
        </p:nvSpPr>
        <p:spPr>
          <a:xfrm>
            <a:off x="1028700" y="1114796"/>
            <a:ext cx="14439900" cy="1590435"/>
          </a:xfrm>
          <a:prstGeom prst="rect">
            <a:avLst/>
          </a:prstGeom>
        </p:spPr>
        <p:txBody>
          <a:bodyPr wrap="square" lIns="0" tIns="0" rIns="0" bIns="0" rtlCol="0" anchor="t">
            <a:spAutoFit/>
          </a:bodyPr>
          <a:lstStyle/>
          <a:p>
            <a:pPr algn="l">
              <a:lnSpc>
                <a:spcPts val="11841"/>
              </a:lnSpc>
            </a:pPr>
            <a:r>
              <a:rPr lang="en-US" sz="11841" spc="-827" dirty="0">
                <a:gradFill>
                  <a:gsLst>
                    <a:gs pos="0">
                      <a:srgbClr val="FDFDFD">
                        <a:alpha val="100000"/>
                      </a:srgbClr>
                    </a:gs>
                    <a:gs pos="100000">
                      <a:srgbClr val="747474">
                        <a:alpha val="100000"/>
                      </a:srgbClr>
                    </a:gs>
                  </a:gsLst>
                  <a:lin ang="0"/>
                </a:gradFill>
                <a:latin typeface="Garet"/>
                <a:ea typeface="Garet"/>
                <a:cs typeface="Garet"/>
                <a:sym typeface="Garet"/>
              </a:rPr>
              <a:t>Problem Statement</a:t>
            </a:r>
          </a:p>
        </p:txBody>
      </p:sp>
      <p:sp>
        <p:nvSpPr>
          <p:cNvPr id="6" name="TextBox 6"/>
          <p:cNvSpPr txBox="1"/>
          <p:nvPr/>
        </p:nvSpPr>
        <p:spPr>
          <a:xfrm>
            <a:off x="1028700" y="2553062"/>
            <a:ext cx="7069007" cy="542982"/>
          </a:xfrm>
          <a:prstGeom prst="rect">
            <a:avLst/>
          </a:prstGeom>
        </p:spPr>
        <p:txBody>
          <a:bodyPr lIns="0" tIns="0" rIns="0" bIns="0" rtlCol="0" anchor="t">
            <a:spAutoFit/>
          </a:bodyPr>
          <a:lstStyle/>
          <a:p>
            <a:pPr algn="l">
              <a:lnSpc>
                <a:spcPts val="4197"/>
              </a:lnSpc>
            </a:pPr>
            <a:r>
              <a:rPr lang="en-US" sz="2996" spc="-103" dirty="0">
                <a:gradFill>
                  <a:gsLst>
                    <a:gs pos="0">
                      <a:srgbClr val="FDFDFD">
                        <a:alpha val="100000"/>
                      </a:srgbClr>
                    </a:gs>
                    <a:gs pos="100000">
                      <a:srgbClr val="A678FF">
                        <a:alpha val="100000"/>
                      </a:srgbClr>
                    </a:gs>
                  </a:gsLst>
                  <a:lin ang="0"/>
                </a:gradFill>
                <a:latin typeface="Garet"/>
                <a:ea typeface="Garet"/>
                <a:cs typeface="Garet"/>
                <a:sym typeface="Garet"/>
              </a:rPr>
              <a:t>Hardware Perceptron Challenge</a:t>
            </a:r>
          </a:p>
        </p:txBody>
      </p:sp>
      <p:sp>
        <p:nvSpPr>
          <p:cNvPr id="7" name="TextBox 7"/>
          <p:cNvSpPr txBox="1"/>
          <p:nvPr/>
        </p:nvSpPr>
        <p:spPr>
          <a:xfrm>
            <a:off x="0" y="3819582"/>
            <a:ext cx="9126407" cy="4288155"/>
          </a:xfrm>
          <a:prstGeom prst="rect">
            <a:avLst/>
          </a:prstGeom>
        </p:spPr>
        <p:txBody>
          <a:bodyPr lIns="0" tIns="0" rIns="0" bIns="0" rtlCol="0" anchor="t">
            <a:spAutoFit/>
          </a:bodyPr>
          <a:lstStyle/>
          <a:p>
            <a:pPr algn="ctr">
              <a:lnSpc>
                <a:spcPts val="6719"/>
              </a:lnSpc>
            </a:pPr>
            <a:r>
              <a:rPr lang="en-US" sz="4798" spc="-166" dirty="0">
                <a:solidFill>
                  <a:srgbClr val="FDFDFD"/>
                </a:solidFill>
                <a:latin typeface="Garet"/>
                <a:ea typeface="Garet"/>
                <a:cs typeface="Garet"/>
                <a:sym typeface="Garet"/>
              </a:rPr>
              <a:t>Designed a hardware-based heart attack risk detection system using a perceptron classifier implemented in Verilog HDL.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2800617" y="869204"/>
            <a:ext cx="13963383" cy="1522020"/>
          </a:xfrm>
          <a:prstGeom prst="rect">
            <a:avLst/>
          </a:prstGeom>
        </p:spPr>
        <p:txBody>
          <a:bodyPr wrap="square" lIns="0" tIns="0" rIns="0" bIns="0" rtlCol="0" anchor="t">
            <a:spAutoFit/>
          </a:bodyPr>
          <a:lstStyle/>
          <a:p>
            <a:pPr algn="l">
              <a:lnSpc>
                <a:spcPts val="11313"/>
              </a:lnSpc>
            </a:pPr>
            <a:r>
              <a:rPr lang="en-US" sz="11313" spc="-791" dirty="0">
                <a:gradFill>
                  <a:gsLst>
                    <a:gs pos="0">
                      <a:srgbClr val="FDFDFD">
                        <a:alpha val="100000"/>
                      </a:srgbClr>
                    </a:gs>
                    <a:gs pos="100000">
                      <a:srgbClr val="747474">
                        <a:alpha val="100000"/>
                      </a:srgbClr>
                    </a:gs>
                  </a:gsLst>
                  <a:lin ang="0"/>
                </a:gradFill>
                <a:latin typeface="Garet"/>
                <a:ea typeface="Garet"/>
                <a:cs typeface="Garet"/>
                <a:sym typeface="Garet"/>
              </a:rPr>
              <a:t>About  the  Problem</a:t>
            </a:r>
          </a:p>
        </p:txBody>
      </p:sp>
      <p:sp>
        <p:nvSpPr>
          <p:cNvPr id="3" name="TextBox 3"/>
          <p:cNvSpPr txBox="1"/>
          <p:nvPr/>
        </p:nvSpPr>
        <p:spPr>
          <a:xfrm>
            <a:off x="710079" y="2601754"/>
            <a:ext cx="16867842" cy="7327735"/>
          </a:xfrm>
          <a:prstGeom prst="rect">
            <a:avLst/>
          </a:prstGeom>
        </p:spPr>
        <p:txBody>
          <a:bodyPr lIns="0" tIns="0" rIns="0" bIns="0" rtlCol="0" anchor="t">
            <a:spAutoFit/>
          </a:bodyPr>
          <a:lstStyle/>
          <a:p>
            <a:pPr algn="l">
              <a:lnSpc>
                <a:spcPts val="5317"/>
              </a:lnSpc>
            </a:pPr>
            <a:r>
              <a:rPr lang="en-US" sz="5318" spc="-372">
                <a:gradFill>
                  <a:gsLst>
                    <a:gs pos="0">
                      <a:srgbClr val="FDFDFD">
                        <a:alpha val="100000"/>
                      </a:srgbClr>
                    </a:gs>
                    <a:gs pos="100000">
                      <a:srgbClr val="747474">
                        <a:alpha val="100000"/>
                      </a:srgbClr>
                    </a:gs>
                  </a:gsLst>
                  <a:lin ang="0"/>
                </a:gradFill>
                <a:latin typeface="Garet"/>
                <a:ea typeface="Garet"/>
                <a:cs typeface="Garet"/>
                <a:sym typeface="Garet"/>
              </a:rPr>
              <a:t>Heart disease detection requires timely and accurate prediction, but most existing systems are software-based and not suitable for real-time, low-power hardware applications.</a:t>
            </a:r>
          </a:p>
          <a:p>
            <a:pPr algn="l">
              <a:lnSpc>
                <a:spcPts val="5317"/>
              </a:lnSpc>
            </a:pPr>
            <a:endParaRPr lang="en-US" sz="5318" spc="-372">
              <a:gradFill>
                <a:gsLst>
                  <a:gs pos="0">
                    <a:srgbClr val="FDFDFD">
                      <a:alpha val="100000"/>
                    </a:srgbClr>
                  </a:gs>
                  <a:gs pos="100000">
                    <a:srgbClr val="747474">
                      <a:alpha val="100000"/>
                    </a:srgbClr>
                  </a:gs>
                </a:gsLst>
                <a:lin ang="0"/>
              </a:gradFill>
              <a:latin typeface="Garet"/>
              <a:ea typeface="Garet"/>
              <a:cs typeface="Garet"/>
              <a:sym typeface="Garet"/>
            </a:endParaRPr>
          </a:p>
          <a:p>
            <a:pPr algn="l">
              <a:lnSpc>
                <a:spcPts val="5317"/>
              </a:lnSpc>
            </a:pPr>
            <a:r>
              <a:rPr lang="en-US" sz="5318" spc="-372">
                <a:gradFill>
                  <a:gsLst>
                    <a:gs pos="0">
                      <a:srgbClr val="FDFDFD">
                        <a:alpha val="100000"/>
                      </a:srgbClr>
                    </a:gs>
                    <a:gs pos="100000">
                      <a:srgbClr val="747474">
                        <a:alpha val="100000"/>
                      </a:srgbClr>
                    </a:gs>
                  </a:gsLst>
                  <a:lin ang="0"/>
                </a:gradFill>
                <a:latin typeface="Garet"/>
                <a:ea typeface="Garet"/>
                <a:cs typeface="Garet"/>
                <a:sym typeface="Garet"/>
              </a:rPr>
              <a:t>The problem is to design a simple, fast, and efficient hardware-based system using a perceptron classifier in Verilog HDL that can predict heart attack risk using multiple inputs with minimal resources and real-time performance.</a:t>
            </a:r>
          </a:p>
          <a:p>
            <a:pPr algn="l">
              <a:lnSpc>
                <a:spcPts val="5317"/>
              </a:lnSpc>
            </a:pPr>
            <a:endParaRPr lang="en-US" sz="5318" spc="-372">
              <a:gradFill>
                <a:gsLst>
                  <a:gs pos="0">
                    <a:srgbClr val="FDFDFD">
                      <a:alpha val="100000"/>
                    </a:srgbClr>
                  </a:gs>
                  <a:gs pos="100000">
                    <a:srgbClr val="747474">
                      <a:alpha val="100000"/>
                    </a:srgbClr>
                  </a:gs>
                </a:gsLst>
                <a:lin ang="0"/>
              </a:gradFill>
              <a:latin typeface="Garet"/>
              <a:ea typeface="Garet"/>
              <a:cs typeface="Garet"/>
              <a:sym typeface="Gare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1998774" y="946995"/>
            <a:ext cx="14290443" cy="1113787"/>
          </a:xfrm>
          <a:prstGeom prst="rect">
            <a:avLst/>
          </a:prstGeom>
        </p:spPr>
        <p:txBody>
          <a:bodyPr lIns="0" tIns="0" rIns="0" bIns="0" rtlCol="0" anchor="t">
            <a:spAutoFit/>
          </a:bodyPr>
          <a:lstStyle/>
          <a:p>
            <a:pPr algn="l">
              <a:lnSpc>
                <a:spcPts val="9724"/>
              </a:lnSpc>
            </a:pPr>
            <a:r>
              <a:rPr lang="en-US" sz="9724" spc="-680">
                <a:gradFill>
                  <a:gsLst>
                    <a:gs pos="0">
                      <a:srgbClr val="FDFDFD">
                        <a:alpha val="100000"/>
                      </a:srgbClr>
                    </a:gs>
                    <a:gs pos="100000">
                      <a:srgbClr val="747474">
                        <a:alpha val="100000"/>
                      </a:srgbClr>
                    </a:gs>
                  </a:gsLst>
                  <a:lin ang="0"/>
                </a:gradFill>
                <a:latin typeface="Garet"/>
                <a:ea typeface="Garet"/>
                <a:cs typeface="Garet"/>
                <a:sym typeface="Garet"/>
              </a:rPr>
              <a:t>Importance  of  Problem</a:t>
            </a:r>
          </a:p>
        </p:txBody>
      </p:sp>
      <p:sp>
        <p:nvSpPr>
          <p:cNvPr id="3" name="TextBox 3"/>
          <p:cNvSpPr txBox="1"/>
          <p:nvPr/>
        </p:nvSpPr>
        <p:spPr>
          <a:xfrm>
            <a:off x="1998774" y="3230442"/>
            <a:ext cx="15260526" cy="4788894"/>
          </a:xfrm>
          <a:prstGeom prst="rect">
            <a:avLst/>
          </a:prstGeom>
        </p:spPr>
        <p:txBody>
          <a:bodyPr lIns="0" tIns="0" rIns="0" bIns="0" rtlCol="0" anchor="t">
            <a:spAutoFit/>
          </a:bodyPr>
          <a:lstStyle/>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Helps in early detection of heart disease risk</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Enables timely medical attention and preventive care</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Reduces chances of severe health complications</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Provides fast and real-time risk prediction</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Makes healthcare more accessible through portable devices</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Works with low power and minimal hardware resources</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Useful for continuous monitoring in daily life</a:t>
            </a:r>
          </a:p>
          <a:p>
            <a:pPr algn="l">
              <a:lnSpc>
                <a:spcPts val="4271"/>
              </a:lnSpc>
            </a:pPr>
            <a:r>
              <a:rPr lang="en-US" sz="4271" spc="-299">
                <a:gradFill>
                  <a:gsLst>
                    <a:gs pos="0">
                      <a:srgbClr val="FDFDFD">
                        <a:alpha val="100000"/>
                      </a:srgbClr>
                    </a:gs>
                    <a:gs pos="100000">
                      <a:srgbClr val="747474">
                        <a:alpha val="100000"/>
                      </a:srgbClr>
                    </a:gs>
                  </a:gsLst>
                  <a:lin ang="0"/>
                </a:gradFill>
                <a:latin typeface="Garet"/>
                <a:ea typeface="Garet"/>
                <a:cs typeface="Garet"/>
                <a:sym typeface="Garet"/>
              </a:rPr>
              <a:t>• Promotes awareness and healthier lifestyle choices</a:t>
            </a:r>
          </a:p>
          <a:p>
            <a:pPr algn="l">
              <a:lnSpc>
                <a:spcPts val="4271"/>
              </a:lnSpc>
            </a:pPr>
            <a:endParaRPr lang="en-US" sz="4271" spc="-299">
              <a:gradFill>
                <a:gsLst>
                  <a:gs pos="0">
                    <a:srgbClr val="FDFDFD">
                      <a:alpha val="100000"/>
                    </a:srgbClr>
                  </a:gs>
                  <a:gs pos="100000">
                    <a:srgbClr val="747474">
                      <a:alpha val="100000"/>
                    </a:srgbClr>
                  </a:gs>
                </a:gsLst>
                <a:lin ang="0"/>
              </a:gradFill>
              <a:latin typeface="Garet"/>
              <a:ea typeface="Garet"/>
              <a:cs typeface="Garet"/>
              <a:sym typeface="Gare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5084264" y="636013"/>
            <a:ext cx="7766161" cy="1166384"/>
          </a:xfrm>
          <a:prstGeom prst="rect">
            <a:avLst/>
          </a:prstGeom>
        </p:spPr>
        <p:txBody>
          <a:bodyPr lIns="0" tIns="0" rIns="0" bIns="0" rtlCol="0" anchor="t">
            <a:spAutoFit/>
          </a:bodyPr>
          <a:lstStyle/>
          <a:p>
            <a:pPr algn="l">
              <a:lnSpc>
                <a:spcPts val="10203"/>
              </a:lnSpc>
            </a:pPr>
            <a:r>
              <a:rPr lang="en-US" sz="10204" spc="-714">
                <a:gradFill>
                  <a:gsLst>
                    <a:gs pos="0">
                      <a:srgbClr val="FDFDFD">
                        <a:alpha val="100000"/>
                      </a:srgbClr>
                    </a:gs>
                    <a:gs pos="100000">
                      <a:srgbClr val="747474">
                        <a:alpha val="100000"/>
                      </a:srgbClr>
                    </a:gs>
                  </a:gsLst>
                  <a:lin ang="0"/>
                </a:gradFill>
                <a:latin typeface="Garet"/>
                <a:ea typeface="Garet"/>
                <a:cs typeface="Garet"/>
                <a:sym typeface="Garet"/>
              </a:rPr>
              <a:t>Applications</a:t>
            </a:r>
          </a:p>
        </p:txBody>
      </p:sp>
      <p:sp>
        <p:nvSpPr>
          <p:cNvPr id="3" name="TextBox 3"/>
          <p:cNvSpPr txBox="1"/>
          <p:nvPr/>
        </p:nvSpPr>
        <p:spPr>
          <a:xfrm>
            <a:off x="1028700" y="2404767"/>
            <a:ext cx="15877280" cy="5988053"/>
          </a:xfrm>
          <a:prstGeom prst="rect">
            <a:avLst/>
          </a:prstGeom>
        </p:spPr>
        <p:txBody>
          <a:bodyPr lIns="0" tIns="0" rIns="0" bIns="0" rtlCol="0" anchor="t">
            <a:spAutoFit/>
          </a:bodyPr>
          <a:lstStyle/>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Can be used in wearable devices to keep track of heart health in daily life</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Helpful for quick health check-ups at home or in small clinics</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Assists doctors by giving quick risk indications during initial diagnosis</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Can be added to fitness devices to monitor overall health and lifestyle</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Useful in rural or remote areas where advanced medical facilities are not easily available</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Allows real-time monitoring so users can stay aware of their health anytime</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 Encourages people to take preventive actions and maintain a healthier lifestyle</a:t>
            </a:r>
          </a:p>
          <a:p>
            <a:pPr algn="l">
              <a:lnSpc>
                <a:spcPts val="3999"/>
              </a:lnSpc>
            </a:pPr>
            <a:r>
              <a:rPr lang="en-US" sz="3999" spc="-279">
                <a:gradFill>
                  <a:gsLst>
                    <a:gs pos="0">
                      <a:srgbClr val="FDFDFD">
                        <a:alpha val="100000"/>
                      </a:srgbClr>
                    </a:gs>
                    <a:gs pos="100000">
                      <a:srgbClr val="747474">
                        <a:alpha val="100000"/>
                      </a:srgbClr>
                    </a:gs>
                  </a:gsLst>
                  <a:lin ang="0"/>
                </a:gradFill>
                <a:latin typeface="Garet"/>
                <a:ea typeface="Garet"/>
                <a:cs typeface="Garet"/>
                <a:sym typeface="Garet"/>
              </a:rPr>
              <a:t>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4128802" y="1681277"/>
            <a:ext cx="10030387" cy="6924437"/>
            <a:chOff x="0" y="0"/>
            <a:chExt cx="13373849" cy="9232582"/>
          </a:xfrm>
        </p:grpSpPr>
        <p:sp>
          <p:nvSpPr>
            <p:cNvPr id="3" name="Freeform 3"/>
            <p:cNvSpPr/>
            <p:nvPr/>
          </p:nvSpPr>
          <p:spPr>
            <a:xfrm>
              <a:off x="0" y="0"/>
              <a:ext cx="13373863" cy="9232646"/>
            </a:xfrm>
            <a:custGeom>
              <a:avLst/>
              <a:gdLst/>
              <a:ahLst/>
              <a:cxnLst/>
              <a:rect l="l" t="t" r="r" b="b"/>
              <a:pathLst>
                <a:path w="13373863" h="9232646">
                  <a:moveTo>
                    <a:pt x="0" y="0"/>
                  </a:moveTo>
                  <a:lnTo>
                    <a:pt x="13373863" y="0"/>
                  </a:lnTo>
                  <a:lnTo>
                    <a:pt x="13373863" y="9232646"/>
                  </a:lnTo>
                  <a:lnTo>
                    <a:pt x="0" y="9232646"/>
                  </a:lnTo>
                  <a:lnTo>
                    <a:pt x="0" y="0"/>
                  </a:lnTo>
                  <a:close/>
                </a:path>
              </a:pathLst>
            </a:custGeom>
            <a:blipFill>
              <a:blip r:embed="rId2"/>
              <a:stretch>
                <a:fillRect l="-1959" r="-1959"/>
              </a:stretch>
            </a:blipFill>
          </p:spPr>
        </p:sp>
      </p:grpSp>
      <p:sp>
        <p:nvSpPr>
          <p:cNvPr id="4" name="TextBox 4"/>
          <p:cNvSpPr txBox="1"/>
          <p:nvPr/>
        </p:nvSpPr>
        <p:spPr>
          <a:xfrm>
            <a:off x="4932064" y="771649"/>
            <a:ext cx="9227136" cy="968022"/>
          </a:xfrm>
          <a:prstGeom prst="rect">
            <a:avLst/>
          </a:prstGeom>
        </p:spPr>
        <p:txBody>
          <a:bodyPr wrap="square" lIns="0" tIns="0" rIns="0" bIns="0" rtlCol="0" anchor="t">
            <a:spAutoFit/>
          </a:bodyPr>
          <a:lstStyle/>
          <a:p>
            <a:pPr algn="l">
              <a:lnSpc>
                <a:spcPts val="7161"/>
              </a:lnSpc>
            </a:pPr>
            <a:r>
              <a:rPr lang="en-US" sz="7162" spc="-501" dirty="0">
                <a:gradFill>
                  <a:gsLst>
                    <a:gs pos="0">
                      <a:srgbClr val="FDFDFD">
                        <a:alpha val="100000"/>
                      </a:srgbClr>
                    </a:gs>
                    <a:gs pos="100000">
                      <a:srgbClr val="747474">
                        <a:alpha val="100000"/>
                      </a:srgbClr>
                    </a:gs>
                  </a:gsLst>
                  <a:lin ang="0"/>
                </a:gradFill>
                <a:latin typeface="Garet"/>
                <a:ea typeface="Garet"/>
                <a:cs typeface="Garet"/>
                <a:sym typeface="Garet"/>
              </a:rPr>
              <a:t>Mathematical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525456" y="2320071"/>
            <a:ext cx="16948156" cy="7033479"/>
            <a:chOff x="0" y="0"/>
            <a:chExt cx="22597542" cy="9377972"/>
          </a:xfrm>
        </p:grpSpPr>
        <p:sp>
          <p:nvSpPr>
            <p:cNvPr id="3" name="Freeform 3"/>
            <p:cNvSpPr/>
            <p:nvPr/>
          </p:nvSpPr>
          <p:spPr>
            <a:xfrm>
              <a:off x="0" y="0"/>
              <a:ext cx="22597490" cy="9377934"/>
            </a:xfrm>
            <a:custGeom>
              <a:avLst/>
              <a:gdLst/>
              <a:ahLst/>
              <a:cxnLst/>
              <a:rect l="l" t="t" r="r" b="b"/>
              <a:pathLst>
                <a:path w="22597490" h="9377934">
                  <a:moveTo>
                    <a:pt x="0" y="0"/>
                  </a:moveTo>
                  <a:lnTo>
                    <a:pt x="22597490" y="0"/>
                  </a:lnTo>
                  <a:lnTo>
                    <a:pt x="22597490" y="9377934"/>
                  </a:lnTo>
                  <a:lnTo>
                    <a:pt x="0" y="9377934"/>
                  </a:lnTo>
                  <a:lnTo>
                    <a:pt x="0" y="0"/>
                  </a:lnTo>
                  <a:close/>
                </a:path>
              </a:pathLst>
            </a:custGeom>
            <a:blipFill>
              <a:blip r:embed="rId2"/>
              <a:stretch>
                <a:fillRect l="-28" r="-28"/>
              </a:stretch>
            </a:blipFill>
          </p:spPr>
        </p:sp>
      </p:grpSp>
      <p:sp>
        <p:nvSpPr>
          <p:cNvPr id="4" name="TextBox 4"/>
          <p:cNvSpPr txBox="1"/>
          <p:nvPr/>
        </p:nvSpPr>
        <p:spPr>
          <a:xfrm>
            <a:off x="2964837" y="737768"/>
            <a:ext cx="12358326" cy="1169032"/>
          </a:xfrm>
          <a:prstGeom prst="rect">
            <a:avLst/>
          </a:prstGeom>
        </p:spPr>
        <p:txBody>
          <a:bodyPr lIns="0" tIns="0" rIns="0" bIns="0" rtlCol="0" anchor="t">
            <a:spAutoFit/>
          </a:bodyPr>
          <a:lstStyle/>
          <a:p>
            <a:pPr algn="l">
              <a:lnSpc>
                <a:spcPts val="10221"/>
              </a:lnSpc>
            </a:pPr>
            <a:r>
              <a:rPr lang="en-US" sz="10222" spc="-715">
                <a:gradFill>
                  <a:gsLst>
                    <a:gs pos="0">
                      <a:srgbClr val="FDFDFD">
                        <a:alpha val="100000"/>
                      </a:srgbClr>
                    </a:gs>
                    <a:gs pos="100000">
                      <a:srgbClr val="747474">
                        <a:alpha val="100000"/>
                      </a:srgbClr>
                    </a:gs>
                  </a:gsLst>
                  <a:lin ang="0"/>
                </a:gradFill>
                <a:latin typeface="Garet"/>
                <a:ea typeface="Garet"/>
                <a:cs typeface="Garet"/>
                <a:sym typeface="Garet"/>
              </a:rPr>
              <a:t>Block Diagram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4932978" y="2428208"/>
            <a:ext cx="12883496" cy="7053710"/>
            <a:chOff x="0" y="0"/>
            <a:chExt cx="17177995" cy="9404947"/>
          </a:xfrm>
        </p:grpSpPr>
        <p:sp>
          <p:nvSpPr>
            <p:cNvPr id="3" name="Freeform 3"/>
            <p:cNvSpPr/>
            <p:nvPr/>
          </p:nvSpPr>
          <p:spPr>
            <a:xfrm>
              <a:off x="0" y="0"/>
              <a:ext cx="17178020" cy="9404985"/>
            </a:xfrm>
            <a:custGeom>
              <a:avLst/>
              <a:gdLst/>
              <a:ahLst/>
              <a:cxnLst/>
              <a:rect l="l" t="t" r="r" b="b"/>
              <a:pathLst>
                <a:path w="17178020" h="9404985">
                  <a:moveTo>
                    <a:pt x="0" y="0"/>
                  </a:moveTo>
                  <a:lnTo>
                    <a:pt x="17178020" y="0"/>
                  </a:lnTo>
                  <a:lnTo>
                    <a:pt x="17178020" y="9404985"/>
                  </a:lnTo>
                  <a:lnTo>
                    <a:pt x="0" y="9404985"/>
                  </a:lnTo>
                  <a:lnTo>
                    <a:pt x="0" y="0"/>
                  </a:lnTo>
                  <a:close/>
                </a:path>
              </a:pathLst>
            </a:custGeom>
            <a:blipFill>
              <a:blip r:embed="rId2"/>
              <a:stretch>
                <a:fillRect l="-53" r="-53"/>
              </a:stretch>
            </a:blipFill>
          </p:spPr>
        </p:sp>
      </p:grpSp>
      <p:sp>
        <p:nvSpPr>
          <p:cNvPr id="4" name="TextBox 4"/>
          <p:cNvSpPr txBox="1"/>
          <p:nvPr/>
        </p:nvSpPr>
        <p:spPr>
          <a:xfrm>
            <a:off x="583844" y="717680"/>
            <a:ext cx="9332757" cy="926840"/>
          </a:xfrm>
          <a:prstGeom prst="rect">
            <a:avLst/>
          </a:prstGeom>
        </p:spPr>
        <p:txBody>
          <a:bodyPr lIns="0" tIns="0" rIns="0" bIns="0" rtlCol="0" anchor="t">
            <a:spAutoFit/>
          </a:bodyPr>
          <a:lstStyle/>
          <a:p>
            <a:pPr algn="l">
              <a:lnSpc>
                <a:spcPts val="8083"/>
              </a:lnSpc>
            </a:pPr>
            <a:r>
              <a:rPr lang="en-US" sz="8083" spc="-565">
                <a:gradFill>
                  <a:gsLst>
                    <a:gs pos="0">
                      <a:srgbClr val="FDFDFD">
                        <a:alpha val="100000"/>
                      </a:srgbClr>
                    </a:gs>
                    <a:gs pos="100000">
                      <a:srgbClr val="747474">
                        <a:alpha val="100000"/>
                      </a:srgbClr>
                    </a:gs>
                  </a:gsLst>
                  <a:lin ang="0"/>
                </a:gradFill>
                <a:latin typeface="Garet"/>
                <a:ea typeface="Garet"/>
                <a:cs typeface="Garet"/>
                <a:sym typeface="Garet"/>
              </a:rPr>
              <a:t>Truth Table</a:t>
            </a:r>
          </a:p>
        </p:txBody>
      </p:sp>
      <p:sp>
        <p:nvSpPr>
          <p:cNvPr id="5" name="TextBox 5"/>
          <p:cNvSpPr txBox="1"/>
          <p:nvPr/>
        </p:nvSpPr>
        <p:spPr>
          <a:xfrm>
            <a:off x="583844" y="2218658"/>
            <a:ext cx="4008949" cy="2696661"/>
          </a:xfrm>
          <a:prstGeom prst="rect">
            <a:avLst/>
          </a:prstGeom>
        </p:spPr>
        <p:txBody>
          <a:bodyPr lIns="0" tIns="0" rIns="0" bIns="0" rtlCol="0" anchor="t">
            <a:spAutoFit/>
          </a:bodyPr>
          <a:lstStyle/>
          <a:p>
            <a:pPr algn="ctr">
              <a:lnSpc>
                <a:spcPts val="6919"/>
              </a:lnSpc>
            </a:pPr>
            <a:r>
              <a:rPr lang="en-US" sz="4942" spc="-171">
                <a:solidFill>
                  <a:srgbClr val="FDFDFD"/>
                </a:solidFill>
                <a:latin typeface="Garet"/>
                <a:ea typeface="Garet"/>
                <a:cs typeface="Garet"/>
                <a:sym typeface="Garet"/>
              </a:rPr>
              <a:t>Assume </a:t>
            </a:r>
          </a:p>
          <a:p>
            <a:pPr algn="ctr">
              <a:lnSpc>
                <a:spcPts val="6919"/>
              </a:lnSpc>
            </a:pPr>
            <a:r>
              <a:rPr lang="en-US" sz="4942" spc="-171">
                <a:solidFill>
                  <a:srgbClr val="FDFDFD"/>
                </a:solidFill>
                <a:latin typeface="Garet"/>
                <a:ea typeface="Garet"/>
                <a:cs typeface="Garet"/>
                <a:sym typeface="Garet"/>
              </a:rPr>
              <a:t>Weights = 1</a:t>
            </a:r>
          </a:p>
          <a:p>
            <a:pPr algn="ctr">
              <a:lnSpc>
                <a:spcPts val="6919"/>
              </a:lnSpc>
            </a:pPr>
            <a:r>
              <a:rPr lang="en-US" sz="4942" spc="-171">
                <a:solidFill>
                  <a:srgbClr val="FDFDFD"/>
                </a:solidFill>
                <a:latin typeface="Garet"/>
                <a:ea typeface="Garet"/>
                <a:cs typeface="Garet"/>
                <a:sym typeface="Garet"/>
              </a:rPr>
              <a:t>Threshold =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285236" y="2268541"/>
            <a:ext cx="5400961" cy="6669291"/>
            <a:chOff x="0" y="0"/>
            <a:chExt cx="7201281" cy="8892388"/>
          </a:xfrm>
        </p:grpSpPr>
        <p:sp>
          <p:nvSpPr>
            <p:cNvPr id="3" name="Freeform 3"/>
            <p:cNvSpPr/>
            <p:nvPr/>
          </p:nvSpPr>
          <p:spPr>
            <a:xfrm>
              <a:off x="0" y="0"/>
              <a:ext cx="7201281" cy="8892413"/>
            </a:xfrm>
            <a:custGeom>
              <a:avLst/>
              <a:gdLst/>
              <a:ahLst/>
              <a:cxnLst/>
              <a:rect l="l" t="t" r="r" b="b"/>
              <a:pathLst>
                <a:path w="7201281" h="8892413">
                  <a:moveTo>
                    <a:pt x="0" y="0"/>
                  </a:moveTo>
                  <a:lnTo>
                    <a:pt x="7201281" y="0"/>
                  </a:lnTo>
                  <a:lnTo>
                    <a:pt x="7201281" y="8892413"/>
                  </a:lnTo>
                  <a:lnTo>
                    <a:pt x="0" y="8892413"/>
                  </a:lnTo>
                  <a:lnTo>
                    <a:pt x="0" y="0"/>
                  </a:lnTo>
                  <a:close/>
                </a:path>
              </a:pathLst>
            </a:custGeom>
            <a:blipFill>
              <a:blip r:embed="rId2"/>
              <a:stretch>
                <a:fillRect/>
              </a:stretch>
            </a:blipFill>
          </p:spPr>
        </p:sp>
      </p:grpSp>
      <p:grpSp>
        <p:nvGrpSpPr>
          <p:cNvPr id="4" name="Group 4"/>
          <p:cNvGrpSpPr/>
          <p:nvPr/>
        </p:nvGrpSpPr>
        <p:grpSpPr>
          <a:xfrm>
            <a:off x="6078541" y="2268541"/>
            <a:ext cx="5212766" cy="6669291"/>
            <a:chOff x="0" y="0"/>
            <a:chExt cx="6950354" cy="8892388"/>
          </a:xfrm>
        </p:grpSpPr>
        <p:sp>
          <p:nvSpPr>
            <p:cNvPr id="5" name="Freeform 5"/>
            <p:cNvSpPr/>
            <p:nvPr/>
          </p:nvSpPr>
          <p:spPr>
            <a:xfrm>
              <a:off x="0" y="0"/>
              <a:ext cx="6950329" cy="8892413"/>
            </a:xfrm>
            <a:custGeom>
              <a:avLst/>
              <a:gdLst/>
              <a:ahLst/>
              <a:cxnLst/>
              <a:rect l="l" t="t" r="r" b="b"/>
              <a:pathLst>
                <a:path w="6950329" h="8892413">
                  <a:moveTo>
                    <a:pt x="0" y="0"/>
                  </a:moveTo>
                  <a:lnTo>
                    <a:pt x="6950329" y="0"/>
                  </a:lnTo>
                  <a:lnTo>
                    <a:pt x="6950329" y="8892413"/>
                  </a:lnTo>
                  <a:lnTo>
                    <a:pt x="0" y="8892413"/>
                  </a:lnTo>
                  <a:lnTo>
                    <a:pt x="0" y="0"/>
                  </a:lnTo>
                  <a:close/>
                </a:path>
              </a:pathLst>
            </a:custGeom>
            <a:blipFill>
              <a:blip r:embed="rId3"/>
              <a:stretch>
                <a:fillRect l="-911" r="-911"/>
              </a:stretch>
            </a:blipFill>
          </p:spPr>
        </p:sp>
      </p:grpSp>
      <p:grpSp>
        <p:nvGrpSpPr>
          <p:cNvPr id="6" name="Group 6"/>
          <p:cNvGrpSpPr/>
          <p:nvPr/>
        </p:nvGrpSpPr>
        <p:grpSpPr>
          <a:xfrm>
            <a:off x="11683670" y="2268541"/>
            <a:ext cx="6211319" cy="6078922"/>
            <a:chOff x="0" y="0"/>
            <a:chExt cx="8281759" cy="8105229"/>
          </a:xfrm>
        </p:grpSpPr>
        <p:sp>
          <p:nvSpPr>
            <p:cNvPr id="7" name="Freeform 7"/>
            <p:cNvSpPr/>
            <p:nvPr/>
          </p:nvSpPr>
          <p:spPr>
            <a:xfrm>
              <a:off x="0" y="0"/>
              <a:ext cx="8281797" cy="8105267"/>
            </a:xfrm>
            <a:custGeom>
              <a:avLst/>
              <a:gdLst/>
              <a:ahLst/>
              <a:cxnLst/>
              <a:rect l="l" t="t" r="r" b="b"/>
              <a:pathLst>
                <a:path w="8281797" h="8105267">
                  <a:moveTo>
                    <a:pt x="0" y="0"/>
                  </a:moveTo>
                  <a:lnTo>
                    <a:pt x="8281797" y="0"/>
                  </a:lnTo>
                  <a:lnTo>
                    <a:pt x="8281797" y="8105267"/>
                  </a:lnTo>
                  <a:lnTo>
                    <a:pt x="0" y="8105267"/>
                  </a:lnTo>
                  <a:lnTo>
                    <a:pt x="0" y="0"/>
                  </a:lnTo>
                  <a:close/>
                </a:path>
              </a:pathLst>
            </a:custGeom>
            <a:blipFill>
              <a:blip r:embed="rId4"/>
              <a:stretch>
                <a:fillRect l="-6089" r="-6088"/>
              </a:stretch>
            </a:blipFill>
          </p:spPr>
        </p:sp>
      </p:grpSp>
      <p:sp>
        <p:nvSpPr>
          <p:cNvPr id="8" name="TextBox 8"/>
          <p:cNvSpPr txBox="1"/>
          <p:nvPr/>
        </p:nvSpPr>
        <p:spPr>
          <a:xfrm>
            <a:off x="5971308" y="723071"/>
            <a:ext cx="6345384" cy="935107"/>
          </a:xfrm>
          <a:prstGeom prst="rect">
            <a:avLst/>
          </a:prstGeom>
        </p:spPr>
        <p:txBody>
          <a:bodyPr lIns="0" tIns="0" rIns="0" bIns="0" rtlCol="0" anchor="t">
            <a:spAutoFit/>
          </a:bodyPr>
          <a:lstStyle/>
          <a:p>
            <a:pPr algn="l">
              <a:lnSpc>
                <a:spcPts val="8263"/>
              </a:lnSpc>
            </a:pPr>
            <a:r>
              <a:rPr lang="en-US" sz="8264" spc="-578">
                <a:gradFill>
                  <a:gsLst>
                    <a:gs pos="0">
                      <a:srgbClr val="FDFDFD">
                        <a:alpha val="100000"/>
                      </a:srgbClr>
                    </a:gs>
                    <a:gs pos="100000">
                      <a:srgbClr val="747474">
                        <a:alpha val="100000"/>
                      </a:srgbClr>
                    </a:gs>
                  </a:gsLst>
                  <a:lin ang="0"/>
                </a:gradFill>
                <a:latin typeface="Garet"/>
                <a:ea typeface="Garet"/>
                <a:cs typeface="Garet"/>
                <a:sym typeface="Garet"/>
              </a:rPr>
              <a:t>Verilog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568481" y="1658179"/>
            <a:ext cx="5230911" cy="8004400"/>
            <a:chOff x="0" y="0"/>
            <a:chExt cx="6974548" cy="10672534"/>
          </a:xfrm>
        </p:grpSpPr>
        <p:sp>
          <p:nvSpPr>
            <p:cNvPr id="3" name="Freeform 3"/>
            <p:cNvSpPr/>
            <p:nvPr/>
          </p:nvSpPr>
          <p:spPr>
            <a:xfrm>
              <a:off x="0" y="0"/>
              <a:ext cx="6974586" cy="10672572"/>
            </a:xfrm>
            <a:custGeom>
              <a:avLst/>
              <a:gdLst/>
              <a:ahLst/>
              <a:cxnLst/>
              <a:rect l="l" t="t" r="r" b="b"/>
              <a:pathLst>
                <a:path w="6974586" h="10672572">
                  <a:moveTo>
                    <a:pt x="0" y="0"/>
                  </a:moveTo>
                  <a:lnTo>
                    <a:pt x="6974586" y="0"/>
                  </a:lnTo>
                  <a:lnTo>
                    <a:pt x="6974586" y="10672572"/>
                  </a:lnTo>
                  <a:lnTo>
                    <a:pt x="0" y="10672572"/>
                  </a:lnTo>
                  <a:lnTo>
                    <a:pt x="0" y="0"/>
                  </a:lnTo>
                  <a:close/>
                </a:path>
              </a:pathLst>
            </a:custGeom>
            <a:blipFill>
              <a:blip r:embed="rId2"/>
              <a:stretch>
                <a:fillRect l="-24089" r="-24088"/>
              </a:stretch>
            </a:blipFill>
          </p:spPr>
        </p:sp>
      </p:grpSp>
      <p:grpSp>
        <p:nvGrpSpPr>
          <p:cNvPr id="4" name="Group 4"/>
          <p:cNvGrpSpPr/>
          <p:nvPr/>
        </p:nvGrpSpPr>
        <p:grpSpPr>
          <a:xfrm>
            <a:off x="6237770" y="1829800"/>
            <a:ext cx="5812460" cy="6113574"/>
            <a:chOff x="0" y="0"/>
            <a:chExt cx="7749946" cy="8151432"/>
          </a:xfrm>
        </p:grpSpPr>
        <p:sp>
          <p:nvSpPr>
            <p:cNvPr id="5" name="Freeform 5"/>
            <p:cNvSpPr/>
            <p:nvPr/>
          </p:nvSpPr>
          <p:spPr>
            <a:xfrm>
              <a:off x="0" y="0"/>
              <a:ext cx="7749921" cy="8151495"/>
            </a:xfrm>
            <a:custGeom>
              <a:avLst/>
              <a:gdLst/>
              <a:ahLst/>
              <a:cxnLst/>
              <a:rect l="l" t="t" r="r" b="b"/>
              <a:pathLst>
                <a:path w="7749921" h="8151495">
                  <a:moveTo>
                    <a:pt x="0" y="0"/>
                  </a:moveTo>
                  <a:lnTo>
                    <a:pt x="7749921" y="0"/>
                  </a:lnTo>
                  <a:lnTo>
                    <a:pt x="7749921" y="8151495"/>
                  </a:lnTo>
                  <a:lnTo>
                    <a:pt x="0" y="8151495"/>
                  </a:lnTo>
                  <a:lnTo>
                    <a:pt x="0" y="0"/>
                  </a:lnTo>
                  <a:close/>
                </a:path>
              </a:pathLst>
            </a:custGeom>
            <a:blipFill>
              <a:blip r:embed="rId3"/>
              <a:stretch>
                <a:fillRect/>
              </a:stretch>
            </a:blipFill>
          </p:spPr>
        </p:sp>
      </p:grpSp>
      <p:grpSp>
        <p:nvGrpSpPr>
          <p:cNvPr id="6" name="Group 6"/>
          <p:cNvGrpSpPr/>
          <p:nvPr/>
        </p:nvGrpSpPr>
        <p:grpSpPr>
          <a:xfrm>
            <a:off x="12316692" y="1829800"/>
            <a:ext cx="5465188" cy="6113574"/>
            <a:chOff x="0" y="0"/>
            <a:chExt cx="7286917" cy="8151432"/>
          </a:xfrm>
        </p:grpSpPr>
        <p:sp>
          <p:nvSpPr>
            <p:cNvPr id="7" name="Freeform 7"/>
            <p:cNvSpPr/>
            <p:nvPr/>
          </p:nvSpPr>
          <p:spPr>
            <a:xfrm>
              <a:off x="0" y="0"/>
              <a:ext cx="7286879" cy="8151495"/>
            </a:xfrm>
            <a:custGeom>
              <a:avLst/>
              <a:gdLst/>
              <a:ahLst/>
              <a:cxnLst/>
              <a:rect l="l" t="t" r="r" b="b"/>
              <a:pathLst>
                <a:path w="7286879" h="8151495">
                  <a:moveTo>
                    <a:pt x="0" y="0"/>
                  </a:moveTo>
                  <a:lnTo>
                    <a:pt x="7286879" y="0"/>
                  </a:lnTo>
                  <a:lnTo>
                    <a:pt x="7286879" y="8151495"/>
                  </a:lnTo>
                  <a:lnTo>
                    <a:pt x="0" y="8151495"/>
                  </a:lnTo>
                  <a:lnTo>
                    <a:pt x="0" y="0"/>
                  </a:lnTo>
                  <a:close/>
                </a:path>
              </a:pathLst>
            </a:custGeom>
            <a:blipFill>
              <a:blip r:embed="rId4"/>
              <a:stretch>
                <a:fillRect l="-278" r="-279"/>
              </a:stretch>
            </a:blipFill>
          </p:spPr>
        </p:sp>
      </p:grpSp>
      <p:sp>
        <p:nvSpPr>
          <p:cNvPr id="8" name="TextBox 8"/>
          <p:cNvSpPr txBox="1"/>
          <p:nvPr/>
        </p:nvSpPr>
        <p:spPr>
          <a:xfrm>
            <a:off x="5971308" y="723071"/>
            <a:ext cx="6345384" cy="935107"/>
          </a:xfrm>
          <a:prstGeom prst="rect">
            <a:avLst/>
          </a:prstGeom>
        </p:spPr>
        <p:txBody>
          <a:bodyPr lIns="0" tIns="0" rIns="0" bIns="0" rtlCol="0" anchor="t">
            <a:spAutoFit/>
          </a:bodyPr>
          <a:lstStyle/>
          <a:p>
            <a:pPr algn="l">
              <a:lnSpc>
                <a:spcPts val="8263"/>
              </a:lnSpc>
            </a:pPr>
            <a:r>
              <a:rPr lang="en-US" sz="8264" spc="-578">
                <a:gradFill>
                  <a:gsLst>
                    <a:gs pos="0">
                      <a:srgbClr val="FDFDFD">
                        <a:alpha val="100000"/>
                      </a:srgbClr>
                    </a:gs>
                    <a:gs pos="100000">
                      <a:srgbClr val="747474">
                        <a:alpha val="100000"/>
                      </a:srgbClr>
                    </a:gs>
                  </a:gsLst>
                  <a:lin ang="0"/>
                </a:gradFill>
                <a:latin typeface="Garet"/>
                <a:ea typeface="Garet"/>
                <a:cs typeface="Garet"/>
                <a:sym typeface="Garet"/>
              </a:rPr>
              <a:t>Verilog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6194984" y="1896466"/>
            <a:ext cx="6121708" cy="7361834"/>
            <a:chOff x="0" y="0"/>
            <a:chExt cx="8162277" cy="9815779"/>
          </a:xfrm>
        </p:grpSpPr>
        <p:sp>
          <p:nvSpPr>
            <p:cNvPr id="3" name="Freeform 3"/>
            <p:cNvSpPr/>
            <p:nvPr/>
          </p:nvSpPr>
          <p:spPr>
            <a:xfrm>
              <a:off x="0" y="0"/>
              <a:ext cx="8162290" cy="9815830"/>
            </a:xfrm>
            <a:custGeom>
              <a:avLst/>
              <a:gdLst/>
              <a:ahLst/>
              <a:cxnLst/>
              <a:rect l="l" t="t" r="r" b="b"/>
              <a:pathLst>
                <a:path w="8162290" h="9815830">
                  <a:moveTo>
                    <a:pt x="0" y="0"/>
                  </a:moveTo>
                  <a:lnTo>
                    <a:pt x="8162290" y="0"/>
                  </a:lnTo>
                  <a:lnTo>
                    <a:pt x="8162290" y="9815830"/>
                  </a:lnTo>
                  <a:lnTo>
                    <a:pt x="0" y="9815830"/>
                  </a:lnTo>
                  <a:lnTo>
                    <a:pt x="0" y="0"/>
                  </a:lnTo>
                  <a:close/>
                </a:path>
              </a:pathLst>
            </a:custGeom>
            <a:blipFill>
              <a:blip r:embed="rId2"/>
              <a:stretch>
                <a:fillRect/>
              </a:stretch>
            </a:blipFill>
          </p:spPr>
        </p:sp>
      </p:grpSp>
      <p:sp>
        <p:nvSpPr>
          <p:cNvPr id="4" name="TextBox 4"/>
          <p:cNvSpPr txBox="1"/>
          <p:nvPr/>
        </p:nvSpPr>
        <p:spPr>
          <a:xfrm>
            <a:off x="5971308" y="723071"/>
            <a:ext cx="6345384" cy="935107"/>
          </a:xfrm>
          <a:prstGeom prst="rect">
            <a:avLst/>
          </a:prstGeom>
        </p:spPr>
        <p:txBody>
          <a:bodyPr lIns="0" tIns="0" rIns="0" bIns="0" rtlCol="0" anchor="t">
            <a:spAutoFit/>
          </a:bodyPr>
          <a:lstStyle/>
          <a:p>
            <a:pPr algn="l">
              <a:lnSpc>
                <a:spcPts val="8263"/>
              </a:lnSpc>
            </a:pPr>
            <a:r>
              <a:rPr lang="en-US" sz="8264" spc="-578">
                <a:gradFill>
                  <a:gsLst>
                    <a:gs pos="0">
                      <a:srgbClr val="FDFDFD">
                        <a:alpha val="100000"/>
                      </a:srgbClr>
                    </a:gs>
                    <a:gs pos="100000">
                      <a:srgbClr val="747474">
                        <a:alpha val="100000"/>
                      </a:srgbClr>
                    </a:gs>
                  </a:gsLst>
                  <a:lin ang="0"/>
                </a:gradFill>
                <a:latin typeface="Garet"/>
                <a:ea typeface="Garet"/>
                <a:cs typeface="Garet"/>
                <a:sym typeface="Garet"/>
              </a:rPr>
              <a:t>Verilog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306534" y="2324101"/>
            <a:ext cx="8608866" cy="5410200"/>
            <a:chOff x="0" y="0"/>
            <a:chExt cx="11783289" cy="3549714"/>
          </a:xfrm>
        </p:grpSpPr>
        <p:sp>
          <p:nvSpPr>
            <p:cNvPr id="3" name="Freeform 3"/>
            <p:cNvSpPr/>
            <p:nvPr/>
          </p:nvSpPr>
          <p:spPr>
            <a:xfrm>
              <a:off x="0" y="0"/>
              <a:ext cx="11783314" cy="3549777"/>
            </a:xfrm>
            <a:custGeom>
              <a:avLst/>
              <a:gdLst/>
              <a:ahLst/>
              <a:cxnLst/>
              <a:rect l="l" t="t" r="r" b="b"/>
              <a:pathLst>
                <a:path w="11783314" h="3549777">
                  <a:moveTo>
                    <a:pt x="0" y="0"/>
                  </a:moveTo>
                  <a:lnTo>
                    <a:pt x="11783314" y="0"/>
                  </a:lnTo>
                  <a:lnTo>
                    <a:pt x="11783314" y="3549777"/>
                  </a:lnTo>
                  <a:lnTo>
                    <a:pt x="0" y="3549777"/>
                  </a:lnTo>
                  <a:lnTo>
                    <a:pt x="0" y="0"/>
                  </a:lnTo>
                  <a:close/>
                </a:path>
              </a:pathLst>
            </a:custGeom>
            <a:blipFill>
              <a:blip r:embed="rId2"/>
              <a:stretch>
                <a:fillRect t="-20" b="-17"/>
              </a:stretch>
            </a:blipFill>
          </p:spPr>
        </p:sp>
      </p:grpSp>
      <p:grpSp>
        <p:nvGrpSpPr>
          <p:cNvPr id="4" name="Group 4"/>
          <p:cNvGrpSpPr/>
          <p:nvPr/>
        </p:nvGrpSpPr>
        <p:grpSpPr>
          <a:xfrm>
            <a:off x="9144000" y="2071144"/>
            <a:ext cx="8913057" cy="6196555"/>
            <a:chOff x="0" y="0"/>
            <a:chExt cx="11884076" cy="6421069"/>
          </a:xfrm>
        </p:grpSpPr>
        <p:sp>
          <p:nvSpPr>
            <p:cNvPr id="5" name="Freeform 5"/>
            <p:cNvSpPr/>
            <p:nvPr/>
          </p:nvSpPr>
          <p:spPr>
            <a:xfrm>
              <a:off x="0" y="0"/>
              <a:ext cx="11884025" cy="6421120"/>
            </a:xfrm>
            <a:custGeom>
              <a:avLst/>
              <a:gdLst/>
              <a:ahLst/>
              <a:cxnLst/>
              <a:rect l="l" t="t" r="r" b="b"/>
              <a:pathLst>
                <a:path w="11884025" h="6421120">
                  <a:moveTo>
                    <a:pt x="0" y="0"/>
                  </a:moveTo>
                  <a:lnTo>
                    <a:pt x="11884025" y="0"/>
                  </a:lnTo>
                  <a:lnTo>
                    <a:pt x="11884025" y="6421120"/>
                  </a:lnTo>
                  <a:lnTo>
                    <a:pt x="0" y="6421120"/>
                  </a:lnTo>
                  <a:lnTo>
                    <a:pt x="0" y="0"/>
                  </a:lnTo>
                  <a:close/>
                </a:path>
              </a:pathLst>
            </a:custGeom>
            <a:blipFill>
              <a:blip r:embed="rId3"/>
              <a:stretch>
                <a:fillRect/>
              </a:stretch>
            </a:blipFill>
          </p:spPr>
        </p:sp>
      </p:grpSp>
      <p:sp>
        <p:nvSpPr>
          <p:cNvPr id="6" name="TextBox 6"/>
          <p:cNvSpPr txBox="1"/>
          <p:nvPr/>
        </p:nvSpPr>
        <p:spPr>
          <a:xfrm>
            <a:off x="8078010" y="890102"/>
            <a:ext cx="2131990" cy="935107"/>
          </a:xfrm>
          <a:prstGeom prst="rect">
            <a:avLst/>
          </a:prstGeom>
        </p:spPr>
        <p:txBody>
          <a:bodyPr lIns="0" tIns="0" rIns="0" bIns="0" rtlCol="0" anchor="t">
            <a:spAutoFit/>
          </a:bodyPr>
          <a:lstStyle/>
          <a:p>
            <a:pPr algn="l">
              <a:lnSpc>
                <a:spcPts val="8263"/>
              </a:lnSpc>
            </a:pPr>
            <a:r>
              <a:rPr lang="en-US" sz="8264" spc="-578">
                <a:gradFill>
                  <a:gsLst>
                    <a:gs pos="0">
                      <a:srgbClr val="FDFDFD">
                        <a:alpha val="100000"/>
                      </a:srgbClr>
                    </a:gs>
                    <a:gs pos="100000">
                      <a:srgbClr val="747474">
                        <a:alpha val="100000"/>
                      </a:srgbClr>
                    </a:gs>
                  </a:gsLst>
                  <a:lin ang="0"/>
                </a:gradFill>
                <a:latin typeface="Garet"/>
                <a:ea typeface="Garet"/>
                <a:cs typeface="Garet"/>
                <a:sym typeface="Garet"/>
              </a:rPr>
              <a:t>FSM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55703" y="2094662"/>
            <a:ext cx="16203597" cy="7372636"/>
            <a:chOff x="0" y="0"/>
            <a:chExt cx="21604796" cy="9830181"/>
          </a:xfrm>
        </p:grpSpPr>
        <p:sp>
          <p:nvSpPr>
            <p:cNvPr id="3" name="Freeform 3"/>
            <p:cNvSpPr/>
            <p:nvPr/>
          </p:nvSpPr>
          <p:spPr>
            <a:xfrm>
              <a:off x="0" y="0"/>
              <a:ext cx="21604860" cy="9830181"/>
            </a:xfrm>
            <a:custGeom>
              <a:avLst/>
              <a:gdLst/>
              <a:ahLst/>
              <a:cxnLst/>
              <a:rect l="l" t="t" r="r" b="b"/>
              <a:pathLst>
                <a:path w="21604860" h="9830181">
                  <a:moveTo>
                    <a:pt x="0" y="0"/>
                  </a:moveTo>
                  <a:lnTo>
                    <a:pt x="21604860" y="0"/>
                  </a:lnTo>
                  <a:lnTo>
                    <a:pt x="21604860" y="9830181"/>
                  </a:lnTo>
                  <a:lnTo>
                    <a:pt x="0" y="9830181"/>
                  </a:lnTo>
                  <a:lnTo>
                    <a:pt x="0" y="0"/>
                  </a:lnTo>
                  <a:close/>
                </a:path>
              </a:pathLst>
            </a:custGeom>
            <a:blipFill>
              <a:blip r:embed="rId2"/>
              <a:stretch>
                <a:fillRect l="-5" r="-5"/>
              </a:stretch>
            </a:blipFill>
          </p:spPr>
        </p:sp>
      </p:grpSp>
      <p:sp>
        <p:nvSpPr>
          <p:cNvPr id="4" name="TextBox 4"/>
          <p:cNvSpPr txBox="1"/>
          <p:nvPr/>
        </p:nvSpPr>
        <p:spPr>
          <a:xfrm>
            <a:off x="5420735" y="647833"/>
            <a:ext cx="7446531" cy="1142743"/>
          </a:xfrm>
          <a:prstGeom prst="rect">
            <a:avLst/>
          </a:prstGeom>
        </p:spPr>
        <p:txBody>
          <a:bodyPr lIns="0" tIns="0" rIns="0" bIns="0" rtlCol="0" anchor="t">
            <a:spAutoFit/>
          </a:bodyPr>
          <a:lstStyle/>
          <a:p>
            <a:pPr algn="l">
              <a:lnSpc>
                <a:spcPts val="10047"/>
              </a:lnSpc>
            </a:pPr>
            <a:r>
              <a:rPr lang="en-US" sz="10047" spc="-702">
                <a:gradFill>
                  <a:gsLst>
                    <a:gs pos="0">
                      <a:srgbClr val="FDFDFD">
                        <a:alpha val="100000"/>
                      </a:srgbClr>
                    </a:gs>
                    <a:gs pos="100000">
                      <a:srgbClr val="747474">
                        <a:alpha val="100000"/>
                      </a:srgbClr>
                    </a:gs>
                  </a:gsLst>
                  <a:lin ang="0"/>
                </a:gradFill>
                <a:latin typeface="Garet"/>
                <a:ea typeface="Garet"/>
                <a:cs typeface="Garet"/>
                <a:sym typeface="Garet"/>
              </a:rPr>
              <a:t>RTL Diagram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3013100" y="856250"/>
            <a:ext cx="12261809" cy="1296572"/>
          </a:xfrm>
          <a:prstGeom prst="rect">
            <a:avLst/>
          </a:prstGeom>
        </p:spPr>
        <p:txBody>
          <a:bodyPr lIns="0" tIns="0" rIns="0" bIns="0" rtlCol="0" anchor="t">
            <a:spAutoFit/>
          </a:bodyPr>
          <a:lstStyle/>
          <a:p>
            <a:pPr algn="l">
              <a:lnSpc>
                <a:spcPts val="11313"/>
              </a:lnSpc>
            </a:pPr>
            <a:r>
              <a:rPr lang="en-US" sz="11313" spc="-791">
                <a:gradFill>
                  <a:gsLst>
                    <a:gs pos="0">
                      <a:srgbClr val="FDFDFD">
                        <a:alpha val="100000"/>
                      </a:srgbClr>
                    </a:gs>
                    <a:gs pos="100000">
                      <a:srgbClr val="747474">
                        <a:alpha val="100000"/>
                      </a:srgbClr>
                    </a:gs>
                  </a:gsLst>
                  <a:lin ang="0"/>
                </a:gradFill>
                <a:latin typeface="Garet"/>
                <a:ea typeface="Garet"/>
                <a:cs typeface="Garet"/>
                <a:sym typeface="Garet"/>
              </a:rPr>
              <a:t>Output Waveform</a:t>
            </a:r>
          </a:p>
        </p:txBody>
      </p:sp>
      <p:grpSp>
        <p:nvGrpSpPr>
          <p:cNvPr id="3" name="Group 3"/>
          <p:cNvGrpSpPr/>
          <p:nvPr/>
        </p:nvGrpSpPr>
        <p:grpSpPr>
          <a:xfrm>
            <a:off x="3619500" y="2133781"/>
            <a:ext cx="11049000" cy="7892139"/>
            <a:chOff x="0" y="0"/>
            <a:chExt cx="14732000" cy="10522852"/>
          </a:xfrm>
        </p:grpSpPr>
        <p:sp>
          <p:nvSpPr>
            <p:cNvPr id="4" name="Freeform 4"/>
            <p:cNvSpPr/>
            <p:nvPr/>
          </p:nvSpPr>
          <p:spPr>
            <a:xfrm>
              <a:off x="0" y="0"/>
              <a:ext cx="14732000" cy="10522839"/>
            </a:xfrm>
            <a:custGeom>
              <a:avLst/>
              <a:gdLst/>
              <a:ahLst/>
              <a:cxnLst/>
              <a:rect l="l" t="t" r="r" b="b"/>
              <a:pathLst>
                <a:path w="14732000" h="10522839">
                  <a:moveTo>
                    <a:pt x="0" y="0"/>
                  </a:moveTo>
                  <a:lnTo>
                    <a:pt x="14732000" y="0"/>
                  </a:lnTo>
                  <a:lnTo>
                    <a:pt x="14732000" y="10522839"/>
                  </a:lnTo>
                  <a:lnTo>
                    <a:pt x="0" y="10522839"/>
                  </a:lnTo>
                  <a:lnTo>
                    <a:pt x="0" y="0"/>
                  </a:lnTo>
                  <a:close/>
                </a:path>
              </a:pathLst>
            </a:custGeom>
            <a:blipFill>
              <a:blip r:embed="rId2"/>
              <a:stretch>
                <a:fillRect/>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4876800" y="571500"/>
            <a:ext cx="10177482" cy="1347741"/>
          </a:xfrm>
          <a:prstGeom prst="rect">
            <a:avLst/>
          </a:prstGeom>
        </p:spPr>
        <p:txBody>
          <a:bodyPr wrap="square" lIns="0" tIns="0" rIns="0" bIns="0" rtlCol="0" anchor="t">
            <a:spAutoFit/>
          </a:bodyPr>
          <a:lstStyle/>
          <a:p>
            <a:pPr algn="l">
              <a:lnSpc>
                <a:spcPts val="10032"/>
              </a:lnSpc>
            </a:pPr>
            <a:r>
              <a:rPr lang="en-US" sz="10032" spc="-702" dirty="0">
                <a:gradFill>
                  <a:gsLst>
                    <a:gs pos="0">
                      <a:srgbClr val="FDFDFD">
                        <a:alpha val="100000"/>
                      </a:srgbClr>
                    </a:gs>
                    <a:gs pos="100000">
                      <a:srgbClr val="747474">
                        <a:alpha val="100000"/>
                      </a:srgbClr>
                    </a:gs>
                  </a:gsLst>
                  <a:lin ang="0"/>
                </a:gradFill>
                <a:latin typeface="Garet"/>
                <a:ea typeface="Garet"/>
                <a:cs typeface="Garet"/>
                <a:sym typeface="Garet"/>
              </a:rPr>
              <a:t>Test Bench code </a:t>
            </a:r>
          </a:p>
        </p:txBody>
      </p:sp>
      <p:grpSp>
        <p:nvGrpSpPr>
          <p:cNvPr id="3" name="Group 3"/>
          <p:cNvGrpSpPr/>
          <p:nvPr/>
        </p:nvGrpSpPr>
        <p:grpSpPr>
          <a:xfrm>
            <a:off x="1019727" y="2090585"/>
            <a:ext cx="7105802" cy="7425785"/>
            <a:chOff x="0" y="0"/>
            <a:chExt cx="9474403" cy="9901047"/>
          </a:xfrm>
        </p:grpSpPr>
        <p:sp>
          <p:nvSpPr>
            <p:cNvPr id="4" name="Freeform 4"/>
            <p:cNvSpPr/>
            <p:nvPr/>
          </p:nvSpPr>
          <p:spPr>
            <a:xfrm>
              <a:off x="0" y="0"/>
              <a:ext cx="9474454" cy="9901047"/>
            </a:xfrm>
            <a:custGeom>
              <a:avLst/>
              <a:gdLst/>
              <a:ahLst/>
              <a:cxnLst/>
              <a:rect l="l" t="t" r="r" b="b"/>
              <a:pathLst>
                <a:path w="9474454" h="9901047">
                  <a:moveTo>
                    <a:pt x="0" y="0"/>
                  </a:moveTo>
                  <a:lnTo>
                    <a:pt x="9474454" y="0"/>
                  </a:lnTo>
                  <a:lnTo>
                    <a:pt x="9474454" y="9901047"/>
                  </a:lnTo>
                  <a:lnTo>
                    <a:pt x="0" y="9901047"/>
                  </a:lnTo>
                  <a:lnTo>
                    <a:pt x="0" y="0"/>
                  </a:lnTo>
                  <a:close/>
                </a:path>
              </a:pathLst>
            </a:custGeom>
            <a:blipFill>
              <a:blip r:embed="rId2"/>
              <a:stretch>
                <a:fillRect/>
              </a:stretch>
            </a:blipFill>
          </p:spPr>
        </p:sp>
      </p:grpSp>
      <p:grpSp>
        <p:nvGrpSpPr>
          <p:cNvPr id="5" name="Group 5"/>
          <p:cNvGrpSpPr/>
          <p:nvPr/>
        </p:nvGrpSpPr>
        <p:grpSpPr>
          <a:xfrm>
            <a:off x="10210800" y="2090585"/>
            <a:ext cx="6820729" cy="7425785"/>
            <a:chOff x="0" y="0"/>
            <a:chExt cx="9094305" cy="9901047"/>
          </a:xfrm>
        </p:grpSpPr>
        <p:sp>
          <p:nvSpPr>
            <p:cNvPr id="6" name="Freeform 6"/>
            <p:cNvSpPr/>
            <p:nvPr/>
          </p:nvSpPr>
          <p:spPr>
            <a:xfrm>
              <a:off x="0" y="0"/>
              <a:ext cx="9094343" cy="9901047"/>
            </a:xfrm>
            <a:custGeom>
              <a:avLst/>
              <a:gdLst/>
              <a:ahLst/>
              <a:cxnLst/>
              <a:rect l="l" t="t" r="r" b="b"/>
              <a:pathLst>
                <a:path w="9094343" h="9901047">
                  <a:moveTo>
                    <a:pt x="0" y="0"/>
                  </a:moveTo>
                  <a:lnTo>
                    <a:pt x="9094343" y="0"/>
                  </a:lnTo>
                  <a:lnTo>
                    <a:pt x="9094343" y="9901047"/>
                  </a:lnTo>
                  <a:lnTo>
                    <a:pt x="0" y="9901047"/>
                  </a:lnTo>
                  <a:lnTo>
                    <a:pt x="0" y="0"/>
                  </a:lnTo>
                  <a:close/>
                </a:path>
              </a:pathLst>
            </a:custGeom>
            <a:blipFill>
              <a:blip r:embed="rId3"/>
              <a:stretch>
                <a:fillRect/>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019727" y="2090585"/>
            <a:ext cx="7105802" cy="7425785"/>
            <a:chOff x="0" y="0"/>
            <a:chExt cx="9474403" cy="9901047"/>
          </a:xfrm>
        </p:grpSpPr>
        <p:sp>
          <p:nvSpPr>
            <p:cNvPr id="3" name="Freeform 3"/>
            <p:cNvSpPr/>
            <p:nvPr/>
          </p:nvSpPr>
          <p:spPr>
            <a:xfrm>
              <a:off x="0" y="0"/>
              <a:ext cx="9474454" cy="9901047"/>
            </a:xfrm>
            <a:custGeom>
              <a:avLst/>
              <a:gdLst/>
              <a:ahLst/>
              <a:cxnLst/>
              <a:rect l="l" t="t" r="r" b="b"/>
              <a:pathLst>
                <a:path w="9474454" h="9901047">
                  <a:moveTo>
                    <a:pt x="0" y="0"/>
                  </a:moveTo>
                  <a:lnTo>
                    <a:pt x="9474454" y="0"/>
                  </a:lnTo>
                  <a:lnTo>
                    <a:pt x="9474454" y="9901047"/>
                  </a:lnTo>
                  <a:lnTo>
                    <a:pt x="0" y="9901047"/>
                  </a:lnTo>
                  <a:lnTo>
                    <a:pt x="0" y="0"/>
                  </a:lnTo>
                  <a:close/>
                </a:path>
              </a:pathLst>
            </a:custGeom>
            <a:blipFill>
              <a:blip r:embed="rId2"/>
              <a:stretch>
                <a:fillRect l="-13430" r="-13430"/>
              </a:stretch>
            </a:blipFill>
          </p:spPr>
        </p:sp>
      </p:grpSp>
      <p:grpSp>
        <p:nvGrpSpPr>
          <p:cNvPr id="4" name="Group 4"/>
          <p:cNvGrpSpPr/>
          <p:nvPr/>
        </p:nvGrpSpPr>
        <p:grpSpPr>
          <a:xfrm>
            <a:off x="9322499" y="2090585"/>
            <a:ext cx="7709030" cy="7425785"/>
            <a:chOff x="0" y="0"/>
            <a:chExt cx="10278706" cy="9901047"/>
          </a:xfrm>
        </p:grpSpPr>
        <p:sp>
          <p:nvSpPr>
            <p:cNvPr id="5" name="Freeform 5"/>
            <p:cNvSpPr/>
            <p:nvPr/>
          </p:nvSpPr>
          <p:spPr>
            <a:xfrm>
              <a:off x="0" y="0"/>
              <a:ext cx="10278745" cy="9901047"/>
            </a:xfrm>
            <a:custGeom>
              <a:avLst/>
              <a:gdLst/>
              <a:ahLst/>
              <a:cxnLst/>
              <a:rect l="l" t="t" r="r" b="b"/>
              <a:pathLst>
                <a:path w="10278745" h="9901047">
                  <a:moveTo>
                    <a:pt x="0" y="0"/>
                  </a:moveTo>
                  <a:lnTo>
                    <a:pt x="10278745" y="0"/>
                  </a:lnTo>
                  <a:lnTo>
                    <a:pt x="10278745" y="9901047"/>
                  </a:lnTo>
                  <a:lnTo>
                    <a:pt x="0" y="9901047"/>
                  </a:lnTo>
                  <a:lnTo>
                    <a:pt x="0" y="0"/>
                  </a:lnTo>
                  <a:close/>
                </a:path>
              </a:pathLst>
            </a:custGeom>
            <a:blipFill>
              <a:blip r:embed="rId3"/>
              <a:stretch>
                <a:fillRect l="-10554" r="-10554"/>
              </a:stretch>
            </a:blipFill>
          </p:spPr>
        </p:sp>
      </p:grpSp>
      <p:sp>
        <p:nvSpPr>
          <p:cNvPr id="6" name="TextBox 6"/>
          <p:cNvSpPr txBox="1"/>
          <p:nvPr/>
        </p:nvSpPr>
        <p:spPr>
          <a:xfrm>
            <a:off x="4585899" y="571500"/>
            <a:ext cx="9796482" cy="2630144"/>
          </a:xfrm>
          <a:prstGeom prst="rect">
            <a:avLst/>
          </a:prstGeom>
        </p:spPr>
        <p:txBody>
          <a:bodyPr wrap="square" lIns="0" tIns="0" rIns="0" bIns="0" rtlCol="0" anchor="t">
            <a:spAutoFit/>
          </a:bodyPr>
          <a:lstStyle/>
          <a:p>
            <a:pPr>
              <a:lnSpc>
                <a:spcPts val="10032"/>
              </a:lnSpc>
            </a:pPr>
            <a:r>
              <a:rPr lang="en-US" sz="10032" spc="-702" dirty="0">
                <a:gradFill>
                  <a:gsLst>
                    <a:gs pos="0">
                      <a:srgbClr val="FDFDFD">
                        <a:alpha val="100000"/>
                      </a:srgbClr>
                    </a:gs>
                    <a:gs pos="100000">
                      <a:srgbClr val="747474">
                        <a:alpha val="100000"/>
                      </a:srgbClr>
                    </a:gs>
                  </a:gsLst>
                  <a:lin ang="0"/>
                </a:gradFill>
                <a:latin typeface="Garet"/>
                <a:ea typeface="Garet"/>
                <a:cs typeface="Garet"/>
                <a:sym typeface="Garet"/>
              </a:rPr>
              <a:t>Test Bench code </a:t>
            </a:r>
          </a:p>
          <a:p>
            <a:pPr algn="l">
              <a:lnSpc>
                <a:spcPts val="10032"/>
              </a:lnSpc>
            </a:pPr>
            <a:endParaRPr lang="en-US" sz="10032" spc="-702" dirty="0">
              <a:gradFill>
                <a:gsLst>
                  <a:gs pos="0">
                    <a:srgbClr val="FDFDFD">
                      <a:alpha val="100000"/>
                    </a:srgbClr>
                  </a:gs>
                  <a:gs pos="100000">
                    <a:srgbClr val="747474">
                      <a:alpha val="100000"/>
                    </a:srgbClr>
                  </a:gs>
                </a:gsLst>
                <a:lin ang="0"/>
              </a:gradFill>
              <a:latin typeface="Garet"/>
              <a:ea typeface="Garet"/>
              <a:cs typeface="Garet"/>
              <a:sym typeface="Gare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5403923" y="2119240"/>
            <a:ext cx="7105802" cy="7425785"/>
            <a:chOff x="0" y="0"/>
            <a:chExt cx="9474403" cy="9901047"/>
          </a:xfrm>
        </p:grpSpPr>
        <p:sp>
          <p:nvSpPr>
            <p:cNvPr id="3" name="Freeform 3"/>
            <p:cNvSpPr/>
            <p:nvPr/>
          </p:nvSpPr>
          <p:spPr>
            <a:xfrm>
              <a:off x="0" y="0"/>
              <a:ext cx="9474454" cy="9901047"/>
            </a:xfrm>
            <a:custGeom>
              <a:avLst/>
              <a:gdLst/>
              <a:ahLst/>
              <a:cxnLst/>
              <a:rect l="l" t="t" r="r" b="b"/>
              <a:pathLst>
                <a:path w="9474454" h="9901047">
                  <a:moveTo>
                    <a:pt x="0" y="0"/>
                  </a:moveTo>
                  <a:lnTo>
                    <a:pt x="9474454" y="0"/>
                  </a:lnTo>
                  <a:lnTo>
                    <a:pt x="9474454" y="9901047"/>
                  </a:lnTo>
                  <a:lnTo>
                    <a:pt x="0" y="9901047"/>
                  </a:lnTo>
                  <a:lnTo>
                    <a:pt x="0" y="0"/>
                  </a:lnTo>
                  <a:close/>
                </a:path>
              </a:pathLst>
            </a:custGeom>
            <a:blipFill>
              <a:blip r:embed="rId2"/>
              <a:stretch>
                <a:fillRect l="-2098" r="-2098"/>
              </a:stretch>
            </a:blipFill>
          </p:spPr>
        </p:sp>
      </p:grpSp>
      <p:sp>
        <p:nvSpPr>
          <p:cNvPr id="4" name="TextBox 4"/>
          <p:cNvSpPr txBox="1"/>
          <p:nvPr/>
        </p:nvSpPr>
        <p:spPr>
          <a:xfrm>
            <a:off x="4114800" y="645643"/>
            <a:ext cx="10134600" cy="2630144"/>
          </a:xfrm>
          <a:prstGeom prst="rect">
            <a:avLst/>
          </a:prstGeom>
        </p:spPr>
        <p:txBody>
          <a:bodyPr wrap="square" lIns="0" tIns="0" rIns="0" bIns="0" rtlCol="0" anchor="t">
            <a:spAutoFit/>
          </a:bodyPr>
          <a:lstStyle/>
          <a:p>
            <a:pPr>
              <a:lnSpc>
                <a:spcPts val="10032"/>
              </a:lnSpc>
            </a:pPr>
            <a:r>
              <a:rPr lang="en-US" sz="10032" spc="-702" dirty="0">
                <a:gradFill>
                  <a:gsLst>
                    <a:gs pos="0">
                      <a:srgbClr val="FDFDFD">
                        <a:alpha val="100000"/>
                      </a:srgbClr>
                    </a:gs>
                    <a:gs pos="100000">
                      <a:srgbClr val="747474">
                        <a:alpha val="100000"/>
                      </a:srgbClr>
                    </a:gs>
                  </a:gsLst>
                  <a:lin ang="0"/>
                </a:gradFill>
                <a:latin typeface="Garet"/>
                <a:ea typeface="Garet"/>
                <a:cs typeface="Garet"/>
                <a:sym typeface="Garet"/>
              </a:rPr>
              <a:t>Test Bench code </a:t>
            </a:r>
          </a:p>
          <a:p>
            <a:pPr algn="l">
              <a:lnSpc>
                <a:spcPts val="10032"/>
              </a:lnSpc>
            </a:pPr>
            <a:endParaRPr lang="en-US" sz="10032" spc="-702" dirty="0">
              <a:gradFill>
                <a:gsLst>
                  <a:gs pos="0">
                    <a:srgbClr val="FDFDFD">
                      <a:alpha val="100000"/>
                    </a:srgbClr>
                  </a:gs>
                  <a:gs pos="100000">
                    <a:srgbClr val="747474">
                      <a:alpha val="100000"/>
                    </a:srgbClr>
                  </a:gs>
                </a:gsLst>
                <a:lin ang="0"/>
              </a:gradFill>
              <a:latin typeface="Garet"/>
              <a:ea typeface="Garet"/>
              <a:cs typeface="Garet"/>
              <a:sym typeface="Gare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282940" y="2308889"/>
            <a:ext cx="17722129" cy="4372784"/>
            <a:chOff x="0" y="0"/>
            <a:chExt cx="23629506" cy="5398580"/>
          </a:xfrm>
        </p:grpSpPr>
        <p:sp>
          <p:nvSpPr>
            <p:cNvPr id="3" name="Freeform 3"/>
            <p:cNvSpPr/>
            <p:nvPr/>
          </p:nvSpPr>
          <p:spPr>
            <a:xfrm>
              <a:off x="0" y="0"/>
              <a:ext cx="23629493" cy="5398643"/>
            </a:xfrm>
            <a:custGeom>
              <a:avLst/>
              <a:gdLst/>
              <a:ahLst/>
              <a:cxnLst/>
              <a:rect l="l" t="t" r="r" b="b"/>
              <a:pathLst>
                <a:path w="23629493" h="5398643">
                  <a:moveTo>
                    <a:pt x="0" y="0"/>
                  </a:moveTo>
                  <a:lnTo>
                    <a:pt x="23629493" y="0"/>
                  </a:lnTo>
                  <a:lnTo>
                    <a:pt x="23629493" y="5398643"/>
                  </a:lnTo>
                  <a:lnTo>
                    <a:pt x="0" y="5398643"/>
                  </a:lnTo>
                  <a:lnTo>
                    <a:pt x="0" y="0"/>
                  </a:lnTo>
                  <a:close/>
                </a:path>
              </a:pathLst>
            </a:custGeom>
            <a:blipFill>
              <a:blip r:embed="rId2"/>
              <a:stretch>
                <a:fillRect l="-518" r="-518" b="1"/>
              </a:stretch>
            </a:blipFill>
          </p:spPr>
        </p:sp>
      </p:grpSp>
      <p:sp>
        <p:nvSpPr>
          <p:cNvPr id="4" name="TextBox 4"/>
          <p:cNvSpPr txBox="1"/>
          <p:nvPr/>
        </p:nvSpPr>
        <p:spPr>
          <a:xfrm>
            <a:off x="5192916" y="622992"/>
            <a:ext cx="7902159" cy="1230516"/>
          </a:xfrm>
          <a:prstGeom prst="rect">
            <a:avLst/>
          </a:prstGeom>
        </p:spPr>
        <p:txBody>
          <a:bodyPr lIns="0" tIns="0" rIns="0" bIns="0" rtlCol="0" anchor="t">
            <a:spAutoFit/>
          </a:bodyPr>
          <a:lstStyle/>
          <a:p>
            <a:pPr algn="l">
              <a:lnSpc>
                <a:spcPts val="10878"/>
              </a:lnSpc>
            </a:pPr>
            <a:r>
              <a:rPr lang="en-US" sz="10878" spc="-761">
                <a:gradFill>
                  <a:gsLst>
                    <a:gs pos="0">
                      <a:srgbClr val="FDFDFD">
                        <a:alpha val="100000"/>
                      </a:srgbClr>
                    </a:gs>
                    <a:gs pos="100000">
                      <a:srgbClr val="747474">
                        <a:alpha val="100000"/>
                      </a:srgbClr>
                    </a:gs>
                  </a:gsLst>
                  <a:lin ang="0"/>
                </a:gradFill>
                <a:latin typeface="Garet"/>
                <a:ea typeface="Garet"/>
                <a:cs typeface="Garet"/>
                <a:sym typeface="Garet"/>
              </a:rPr>
              <a:t>Comparison</a:t>
            </a:r>
          </a:p>
        </p:txBody>
      </p:sp>
      <p:sp>
        <p:nvSpPr>
          <p:cNvPr id="5" name="TextBox 5"/>
          <p:cNvSpPr txBox="1"/>
          <p:nvPr/>
        </p:nvSpPr>
        <p:spPr>
          <a:xfrm>
            <a:off x="4287193" y="6681673"/>
            <a:ext cx="9713614" cy="2801151"/>
          </a:xfrm>
          <a:prstGeom prst="rect">
            <a:avLst/>
          </a:prstGeom>
        </p:spPr>
        <p:txBody>
          <a:bodyPr lIns="0" tIns="0" rIns="0" bIns="0" rtlCol="0" anchor="t">
            <a:spAutoFit/>
          </a:bodyPr>
          <a:lstStyle/>
          <a:p>
            <a:pPr algn="ctr">
              <a:lnSpc>
                <a:spcPts val="4401"/>
              </a:lnSpc>
            </a:pPr>
            <a:r>
              <a:rPr lang="en-US" sz="3143" dirty="0">
                <a:solidFill>
                  <a:srgbClr val="FDFDFD"/>
                </a:solidFill>
                <a:latin typeface="Garet"/>
                <a:ea typeface="Garet"/>
                <a:cs typeface="Garet"/>
                <a:sym typeface="Garet"/>
              </a:rPr>
              <a:t>Summary:</a:t>
            </a:r>
          </a:p>
          <a:p>
            <a:pPr marL="457200" indent="-457200">
              <a:lnSpc>
                <a:spcPts val="4401"/>
              </a:lnSpc>
              <a:buFont typeface="Arial" panose="020B0604020202020204" pitchFamily="34" charset="0"/>
              <a:buChar char="•"/>
            </a:pPr>
            <a:r>
              <a:rPr lang="en-US" sz="3143" dirty="0">
                <a:solidFill>
                  <a:srgbClr val="FDFDFD"/>
                </a:solidFill>
                <a:latin typeface="Garet"/>
                <a:ea typeface="Garet"/>
                <a:cs typeface="Garet"/>
                <a:sym typeface="Garet"/>
              </a:rPr>
              <a:t>Input-based model → simple &amp; low-cost</a:t>
            </a:r>
          </a:p>
          <a:p>
            <a:pPr marL="457200" indent="-457200">
              <a:lnSpc>
                <a:spcPts val="4401"/>
              </a:lnSpc>
              <a:buFont typeface="Arial" panose="020B0604020202020204" pitchFamily="34" charset="0"/>
              <a:buChar char="•"/>
            </a:pPr>
            <a:r>
              <a:rPr lang="en-US" sz="3143" dirty="0">
                <a:solidFill>
                  <a:srgbClr val="FDFDFD"/>
                </a:solidFill>
                <a:latin typeface="Garet"/>
                <a:ea typeface="Garet"/>
                <a:cs typeface="Garet"/>
                <a:sym typeface="Garet"/>
              </a:rPr>
              <a:t>BRAM model → faster &amp; optimized</a:t>
            </a:r>
          </a:p>
          <a:p>
            <a:pPr marL="457200" indent="-457200">
              <a:lnSpc>
                <a:spcPts val="4401"/>
              </a:lnSpc>
              <a:buFont typeface="Arial" panose="020B0604020202020204" pitchFamily="34" charset="0"/>
              <a:buChar char="•"/>
            </a:pPr>
            <a:r>
              <a:rPr lang="en-US" sz="3143" dirty="0">
                <a:solidFill>
                  <a:srgbClr val="FDFDFD"/>
                </a:solidFill>
                <a:latin typeface="Garet"/>
                <a:ea typeface="Garet"/>
                <a:cs typeface="Garet"/>
                <a:sym typeface="Garet"/>
              </a:rPr>
              <a:t>Existing models → accurate but resource-heavy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rot="-5400000">
            <a:off x="2936329" y="244078"/>
            <a:ext cx="3947474" cy="6696561"/>
            <a:chOff x="0" y="0"/>
            <a:chExt cx="5263299" cy="8928748"/>
          </a:xfrm>
        </p:grpSpPr>
        <p:sp>
          <p:nvSpPr>
            <p:cNvPr id="3" name="Freeform 3"/>
            <p:cNvSpPr/>
            <p:nvPr/>
          </p:nvSpPr>
          <p:spPr>
            <a:xfrm>
              <a:off x="0" y="0"/>
              <a:ext cx="5263261" cy="8928735"/>
            </a:xfrm>
            <a:custGeom>
              <a:avLst/>
              <a:gdLst/>
              <a:ahLst/>
              <a:cxnLst/>
              <a:rect l="l" t="t" r="r" b="b"/>
              <a:pathLst>
                <a:path w="5263261" h="8928735">
                  <a:moveTo>
                    <a:pt x="0" y="0"/>
                  </a:moveTo>
                  <a:lnTo>
                    <a:pt x="5263261" y="0"/>
                  </a:lnTo>
                  <a:lnTo>
                    <a:pt x="5263261" y="8928735"/>
                  </a:lnTo>
                  <a:lnTo>
                    <a:pt x="0" y="8928735"/>
                  </a:lnTo>
                  <a:lnTo>
                    <a:pt x="0" y="0"/>
                  </a:lnTo>
                  <a:close/>
                </a:path>
              </a:pathLst>
            </a:custGeom>
            <a:blipFill>
              <a:blip r:embed="rId2"/>
              <a:stretch>
                <a:fillRect l="-3556" r="-3557"/>
              </a:stretch>
            </a:blipFill>
          </p:spPr>
        </p:sp>
      </p:grpSp>
      <p:grpSp>
        <p:nvGrpSpPr>
          <p:cNvPr id="4" name="Group 4"/>
          <p:cNvGrpSpPr/>
          <p:nvPr/>
        </p:nvGrpSpPr>
        <p:grpSpPr>
          <a:xfrm rot="-5400000">
            <a:off x="11143250" y="-97765"/>
            <a:ext cx="3931063" cy="7363844"/>
            <a:chOff x="0" y="0"/>
            <a:chExt cx="5241417" cy="9818459"/>
          </a:xfrm>
        </p:grpSpPr>
        <p:sp>
          <p:nvSpPr>
            <p:cNvPr id="5" name="Freeform 5"/>
            <p:cNvSpPr/>
            <p:nvPr/>
          </p:nvSpPr>
          <p:spPr>
            <a:xfrm>
              <a:off x="0" y="0"/>
              <a:ext cx="5241417" cy="9818497"/>
            </a:xfrm>
            <a:custGeom>
              <a:avLst/>
              <a:gdLst/>
              <a:ahLst/>
              <a:cxnLst/>
              <a:rect l="l" t="t" r="r" b="b"/>
              <a:pathLst>
                <a:path w="5241417" h="9818497">
                  <a:moveTo>
                    <a:pt x="0" y="0"/>
                  </a:moveTo>
                  <a:lnTo>
                    <a:pt x="5241417" y="0"/>
                  </a:lnTo>
                  <a:lnTo>
                    <a:pt x="5241417" y="9818497"/>
                  </a:lnTo>
                  <a:lnTo>
                    <a:pt x="0" y="9818497"/>
                  </a:lnTo>
                  <a:lnTo>
                    <a:pt x="0" y="0"/>
                  </a:lnTo>
                  <a:close/>
                </a:path>
              </a:pathLst>
            </a:custGeom>
            <a:blipFill>
              <a:blip r:embed="rId3"/>
              <a:stretch>
                <a:fillRect l="-2736" r="-2736"/>
              </a:stretch>
            </a:blipFill>
          </p:spPr>
        </p:sp>
      </p:grpSp>
      <p:grpSp>
        <p:nvGrpSpPr>
          <p:cNvPr id="6" name="Group 6"/>
          <p:cNvGrpSpPr/>
          <p:nvPr/>
        </p:nvGrpSpPr>
        <p:grpSpPr>
          <a:xfrm rot="-5400000">
            <a:off x="2904544" y="4634160"/>
            <a:ext cx="4011035" cy="6696561"/>
            <a:chOff x="0" y="0"/>
            <a:chExt cx="5348046" cy="8928748"/>
          </a:xfrm>
        </p:grpSpPr>
        <p:sp>
          <p:nvSpPr>
            <p:cNvPr id="7" name="Freeform 7"/>
            <p:cNvSpPr/>
            <p:nvPr/>
          </p:nvSpPr>
          <p:spPr>
            <a:xfrm>
              <a:off x="0" y="0"/>
              <a:ext cx="5348097" cy="8928735"/>
            </a:xfrm>
            <a:custGeom>
              <a:avLst/>
              <a:gdLst/>
              <a:ahLst/>
              <a:cxnLst/>
              <a:rect l="l" t="t" r="r" b="b"/>
              <a:pathLst>
                <a:path w="5348097" h="8928735">
                  <a:moveTo>
                    <a:pt x="0" y="0"/>
                  </a:moveTo>
                  <a:lnTo>
                    <a:pt x="5348097" y="0"/>
                  </a:lnTo>
                  <a:lnTo>
                    <a:pt x="5348097" y="8928735"/>
                  </a:lnTo>
                  <a:lnTo>
                    <a:pt x="0" y="8928735"/>
                  </a:lnTo>
                  <a:lnTo>
                    <a:pt x="0" y="0"/>
                  </a:lnTo>
                  <a:close/>
                </a:path>
              </a:pathLst>
            </a:custGeom>
            <a:blipFill>
              <a:blip r:embed="rId4"/>
              <a:stretch>
                <a:fillRect l="-2444" r="-2443"/>
              </a:stretch>
            </a:blipFill>
          </p:spPr>
        </p:sp>
      </p:grpSp>
      <p:grpSp>
        <p:nvGrpSpPr>
          <p:cNvPr id="8" name="Group 8"/>
          <p:cNvGrpSpPr/>
          <p:nvPr/>
        </p:nvGrpSpPr>
        <p:grpSpPr>
          <a:xfrm rot="-5400000">
            <a:off x="11192847" y="4294737"/>
            <a:ext cx="3831869" cy="7363844"/>
            <a:chOff x="0" y="0"/>
            <a:chExt cx="5109159" cy="9818459"/>
          </a:xfrm>
        </p:grpSpPr>
        <p:sp>
          <p:nvSpPr>
            <p:cNvPr id="9" name="Freeform 9"/>
            <p:cNvSpPr/>
            <p:nvPr/>
          </p:nvSpPr>
          <p:spPr>
            <a:xfrm>
              <a:off x="0" y="0"/>
              <a:ext cx="5109210" cy="9818497"/>
            </a:xfrm>
            <a:custGeom>
              <a:avLst/>
              <a:gdLst/>
              <a:ahLst/>
              <a:cxnLst/>
              <a:rect l="l" t="t" r="r" b="b"/>
              <a:pathLst>
                <a:path w="5109210" h="9818497">
                  <a:moveTo>
                    <a:pt x="0" y="0"/>
                  </a:moveTo>
                  <a:lnTo>
                    <a:pt x="5109210" y="0"/>
                  </a:lnTo>
                  <a:lnTo>
                    <a:pt x="5109210" y="9818497"/>
                  </a:lnTo>
                  <a:lnTo>
                    <a:pt x="0" y="9818497"/>
                  </a:lnTo>
                  <a:lnTo>
                    <a:pt x="0" y="0"/>
                  </a:lnTo>
                  <a:close/>
                </a:path>
              </a:pathLst>
            </a:custGeom>
            <a:blipFill>
              <a:blip r:embed="rId5"/>
              <a:stretch>
                <a:fillRect l="-5395" r="-5394"/>
              </a:stretch>
            </a:blipFill>
          </p:spPr>
        </p:sp>
      </p:grpSp>
      <p:sp>
        <p:nvSpPr>
          <p:cNvPr id="10" name="TextBox 10"/>
          <p:cNvSpPr txBox="1"/>
          <p:nvPr/>
        </p:nvSpPr>
        <p:spPr>
          <a:xfrm>
            <a:off x="795252" y="724529"/>
            <a:ext cx="18559548" cy="1049711"/>
          </a:xfrm>
          <a:prstGeom prst="rect">
            <a:avLst/>
          </a:prstGeom>
        </p:spPr>
        <p:txBody>
          <a:bodyPr wrap="square" lIns="0" tIns="0" rIns="0" bIns="0" rtlCol="0" anchor="t">
            <a:spAutoFit/>
          </a:bodyPr>
          <a:lstStyle/>
          <a:p>
            <a:pPr algn="l">
              <a:lnSpc>
                <a:spcPts val="7785"/>
              </a:lnSpc>
            </a:pPr>
            <a:r>
              <a:rPr lang="en-US" sz="7785" spc="-544" dirty="0">
                <a:gradFill>
                  <a:gsLst>
                    <a:gs pos="0">
                      <a:srgbClr val="FDFDFD">
                        <a:alpha val="100000"/>
                      </a:srgbClr>
                    </a:gs>
                    <a:gs pos="100000">
                      <a:srgbClr val="747474">
                        <a:alpha val="100000"/>
                      </a:srgbClr>
                    </a:gs>
                  </a:gsLst>
                  <a:lin ang="0"/>
                </a:gradFill>
                <a:latin typeface="Garet"/>
                <a:ea typeface="Garet"/>
                <a:cs typeface="Garet"/>
                <a:sym typeface="Garet"/>
              </a:rPr>
              <a:t>Hardware Implementation Snapshots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a:extLst>
            <a:ext uri="{FF2B5EF4-FFF2-40B4-BE49-F238E27FC236}">
              <a16:creationId xmlns:a16="http://schemas.microsoft.com/office/drawing/2014/main" id="{0531546A-B867-07BB-A8E5-95B534804441}"/>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DC32301F-7D52-80E7-062F-4E776713BE7B}"/>
              </a:ext>
            </a:extLst>
          </p:cNvPr>
          <p:cNvSpPr txBox="1"/>
          <p:nvPr/>
        </p:nvSpPr>
        <p:spPr>
          <a:xfrm>
            <a:off x="795252" y="724529"/>
            <a:ext cx="18559548" cy="1049711"/>
          </a:xfrm>
          <a:prstGeom prst="rect">
            <a:avLst/>
          </a:prstGeom>
        </p:spPr>
        <p:txBody>
          <a:bodyPr wrap="square" lIns="0" tIns="0" rIns="0" bIns="0" rtlCol="0" anchor="t">
            <a:spAutoFit/>
          </a:bodyPr>
          <a:lstStyle/>
          <a:p>
            <a:pPr algn="l">
              <a:lnSpc>
                <a:spcPts val="7785"/>
              </a:lnSpc>
            </a:pPr>
            <a:r>
              <a:rPr lang="en-US" sz="7785" spc="-544" dirty="0">
                <a:gradFill>
                  <a:gsLst>
                    <a:gs pos="0">
                      <a:srgbClr val="FDFDFD">
                        <a:alpha val="100000"/>
                      </a:srgbClr>
                    </a:gs>
                    <a:gs pos="100000">
                      <a:srgbClr val="747474">
                        <a:alpha val="100000"/>
                      </a:srgbClr>
                    </a:gs>
                  </a:gsLst>
                  <a:lin ang="0"/>
                </a:gradFill>
                <a:latin typeface="Garet"/>
                <a:ea typeface="Garet"/>
                <a:cs typeface="Garet"/>
                <a:sym typeface="Garet"/>
              </a:rPr>
              <a:t>Hardware Utilization </a:t>
            </a:r>
          </a:p>
        </p:txBody>
      </p:sp>
      <p:pic>
        <p:nvPicPr>
          <p:cNvPr id="1026" name="Picture 1">
            <a:extLst>
              <a:ext uri="{FF2B5EF4-FFF2-40B4-BE49-F238E27FC236}">
                <a16:creationId xmlns:a16="http://schemas.microsoft.com/office/drawing/2014/main" id="{78ECA2C3-45CA-9814-AE35-D12E3E47B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252" y="2061534"/>
            <a:ext cx="12274261" cy="750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0774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5472627" y="788060"/>
            <a:ext cx="7342746" cy="1262158"/>
          </a:xfrm>
          <a:prstGeom prst="rect">
            <a:avLst/>
          </a:prstGeom>
        </p:spPr>
        <p:txBody>
          <a:bodyPr lIns="0" tIns="0" rIns="0" bIns="0" rtlCol="0" anchor="t">
            <a:spAutoFit/>
          </a:bodyPr>
          <a:lstStyle/>
          <a:p>
            <a:pPr algn="l">
              <a:lnSpc>
                <a:spcPts val="10905"/>
              </a:lnSpc>
            </a:pPr>
            <a:r>
              <a:rPr lang="en-US" sz="10906" spc="-763">
                <a:gradFill>
                  <a:gsLst>
                    <a:gs pos="0">
                      <a:srgbClr val="FDFDFD">
                        <a:alpha val="100000"/>
                      </a:srgbClr>
                    </a:gs>
                    <a:gs pos="100000">
                      <a:srgbClr val="747474">
                        <a:alpha val="100000"/>
                      </a:srgbClr>
                    </a:gs>
                  </a:gsLst>
                  <a:lin ang="0"/>
                </a:gradFill>
                <a:latin typeface="Garet"/>
                <a:ea typeface="Garet"/>
                <a:cs typeface="Garet"/>
                <a:sym typeface="Garet"/>
              </a:rPr>
              <a:t>Conclusion </a:t>
            </a:r>
          </a:p>
        </p:txBody>
      </p:sp>
      <p:sp>
        <p:nvSpPr>
          <p:cNvPr id="3" name="TextBox 3"/>
          <p:cNvSpPr txBox="1"/>
          <p:nvPr/>
        </p:nvSpPr>
        <p:spPr>
          <a:xfrm>
            <a:off x="228600" y="2050219"/>
            <a:ext cx="17856051" cy="8814785"/>
          </a:xfrm>
          <a:prstGeom prst="rect">
            <a:avLst/>
          </a:prstGeom>
        </p:spPr>
        <p:txBody>
          <a:bodyPr wrap="square" lIns="0" tIns="0" rIns="0" bIns="0" rtlCol="0" anchor="t">
            <a:spAutoFit/>
          </a:bodyPr>
          <a:lstStyle/>
          <a:p>
            <a:pPr marL="571500" indent="-571500" algn="l">
              <a:lnSpc>
                <a:spcPts val="4038"/>
              </a:lnSpc>
              <a:buFont typeface="Arial" panose="020B0604020202020204" pitchFamily="34" charset="0"/>
              <a:buChar char="•"/>
            </a:pPr>
            <a:r>
              <a:rPr lang="en-US" sz="4039" spc="-282" dirty="0">
                <a:gradFill>
                  <a:gsLst>
                    <a:gs pos="0">
                      <a:srgbClr val="FDFDFD">
                        <a:alpha val="100000"/>
                      </a:srgbClr>
                    </a:gs>
                    <a:gs pos="100000">
                      <a:srgbClr val="747474">
                        <a:alpha val="100000"/>
                      </a:srgbClr>
                    </a:gs>
                  </a:gsLst>
                  <a:lin ang="0"/>
                </a:gradFill>
                <a:latin typeface="Garet"/>
                <a:ea typeface="Garet"/>
                <a:cs typeface="Garet"/>
                <a:sym typeface="Garet"/>
              </a:rPr>
              <a:t>The Heart Risk Detector using a perceptron classifier was successfully designed and implemented to predict the likelihood of heart disease based on multiple input features. The system accepts sequential user inputs through switches, processes them using trained weights and bias, and classifies the risk into different categories such as HIGH, LOW,AVERAGE, and GOOD.</a:t>
            </a:r>
          </a:p>
          <a:p>
            <a:pPr marL="571500" indent="-571500" algn="l">
              <a:lnSpc>
                <a:spcPts val="4038"/>
              </a:lnSpc>
              <a:buFont typeface="Arial" panose="020B0604020202020204" pitchFamily="34" charset="0"/>
              <a:buChar char="•"/>
            </a:pPr>
            <a:endParaRPr lang="en-US" sz="4039" spc="-282" dirty="0">
              <a:gradFill>
                <a:gsLst>
                  <a:gs pos="0">
                    <a:srgbClr val="FDFDFD">
                      <a:alpha val="100000"/>
                    </a:srgbClr>
                  </a:gs>
                  <a:gs pos="100000">
                    <a:srgbClr val="747474">
                      <a:alpha val="100000"/>
                    </a:srgbClr>
                  </a:gs>
                </a:gsLst>
                <a:lin ang="0"/>
              </a:gradFill>
              <a:latin typeface="Garet"/>
              <a:ea typeface="Garet"/>
              <a:cs typeface="Garet"/>
              <a:sym typeface="Garet"/>
            </a:endParaRPr>
          </a:p>
          <a:p>
            <a:pPr marL="571500" indent="-571500" algn="l">
              <a:lnSpc>
                <a:spcPts val="4038"/>
              </a:lnSpc>
              <a:buFont typeface="Arial" panose="020B0604020202020204" pitchFamily="34" charset="0"/>
              <a:buChar char="•"/>
            </a:pPr>
            <a:r>
              <a:rPr lang="en-US" sz="4039" spc="-282" dirty="0">
                <a:gradFill>
                  <a:gsLst>
                    <a:gs pos="0">
                      <a:srgbClr val="FDFDFD">
                        <a:alpha val="100000"/>
                      </a:srgbClr>
                    </a:gs>
                    <a:gs pos="100000">
                      <a:srgbClr val="747474">
                        <a:alpha val="100000"/>
                      </a:srgbClr>
                    </a:gs>
                  </a:gsLst>
                  <a:lin ang="0"/>
                </a:gradFill>
                <a:latin typeface="Garet"/>
                <a:ea typeface="Garet"/>
                <a:cs typeface="Garet"/>
                <a:sym typeface="Garet"/>
              </a:rPr>
              <a:t>The implementation demonstrates how a simple machine learning model like a perceptron can be efficiently realized in hardware using Verilog and finite state machine (FSM) design. It highlights the integration of digital design concepts with artificial intelligence for real-time decision-making.</a:t>
            </a:r>
          </a:p>
          <a:p>
            <a:pPr marL="571500" indent="-571500" algn="l">
              <a:lnSpc>
                <a:spcPts val="4038"/>
              </a:lnSpc>
              <a:buFont typeface="Arial" panose="020B0604020202020204" pitchFamily="34" charset="0"/>
              <a:buChar char="•"/>
            </a:pPr>
            <a:endParaRPr lang="en-US" sz="4039" spc="-282" dirty="0">
              <a:gradFill>
                <a:gsLst>
                  <a:gs pos="0">
                    <a:srgbClr val="FDFDFD">
                      <a:alpha val="100000"/>
                    </a:srgbClr>
                  </a:gs>
                  <a:gs pos="100000">
                    <a:srgbClr val="747474">
                      <a:alpha val="100000"/>
                    </a:srgbClr>
                  </a:gs>
                </a:gsLst>
                <a:lin ang="0"/>
              </a:gradFill>
              <a:latin typeface="Garet"/>
              <a:ea typeface="Garet"/>
              <a:cs typeface="Garet"/>
              <a:sym typeface="Garet"/>
            </a:endParaRPr>
          </a:p>
          <a:p>
            <a:pPr marL="571500" indent="-571500" algn="l">
              <a:lnSpc>
                <a:spcPts val="4038"/>
              </a:lnSpc>
              <a:buFont typeface="Arial" panose="020B0604020202020204" pitchFamily="34" charset="0"/>
              <a:buChar char="•"/>
            </a:pPr>
            <a:r>
              <a:rPr lang="en-US" sz="4039" spc="-282" dirty="0">
                <a:gradFill>
                  <a:gsLst>
                    <a:gs pos="0">
                      <a:srgbClr val="FDFDFD">
                        <a:alpha val="100000"/>
                      </a:srgbClr>
                    </a:gs>
                    <a:gs pos="100000">
                      <a:srgbClr val="747474">
                        <a:alpha val="100000"/>
                      </a:srgbClr>
                    </a:gs>
                  </a:gsLst>
                  <a:lin ang="0"/>
                </a:gradFill>
                <a:latin typeface="Garet"/>
                <a:ea typeface="Garet"/>
                <a:cs typeface="Garet"/>
                <a:sym typeface="Garet"/>
              </a:rPr>
              <a:t>Overall, this project provides a practical understanding of classification algorithms, hardware optimization, and embedded system design, showing that even basic models can be effectively applied to solve real-world healthcare problems.</a:t>
            </a:r>
          </a:p>
          <a:p>
            <a:pPr marL="571500" indent="-571500" algn="l">
              <a:lnSpc>
                <a:spcPts val="4738"/>
              </a:lnSpc>
              <a:buFont typeface="Arial" panose="020B0604020202020204" pitchFamily="34" charset="0"/>
              <a:buChar char="•"/>
            </a:pPr>
            <a:endParaRPr lang="en-US" sz="4039" spc="-282" dirty="0">
              <a:gradFill>
                <a:gsLst>
                  <a:gs pos="0">
                    <a:srgbClr val="FDFDFD">
                      <a:alpha val="100000"/>
                    </a:srgbClr>
                  </a:gs>
                  <a:gs pos="100000">
                    <a:srgbClr val="747474">
                      <a:alpha val="100000"/>
                    </a:srgbClr>
                  </a:gs>
                </a:gsLst>
                <a:lin ang="0"/>
              </a:gradFill>
              <a:latin typeface="Garet"/>
              <a:ea typeface="Garet"/>
              <a:cs typeface="Garet"/>
              <a:sym typeface="Gare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0002">
                <a:alpha val="100000"/>
              </a:srgbClr>
            </a:gs>
            <a:gs pos="100000">
              <a:srgbClr val="1F1E20">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5267363" y="4322550"/>
            <a:ext cx="8061569" cy="1571987"/>
          </a:xfrm>
          <a:prstGeom prst="rect">
            <a:avLst/>
          </a:prstGeom>
        </p:spPr>
        <p:txBody>
          <a:bodyPr lIns="0" tIns="0" rIns="0" bIns="0" rtlCol="0" anchor="t">
            <a:spAutoFit/>
          </a:bodyPr>
          <a:lstStyle/>
          <a:p>
            <a:pPr algn="l">
              <a:lnSpc>
                <a:spcPts val="13632"/>
              </a:lnSpc>
            </a:pPr>
            <a:r>
              <a:rPr lang="en-US" sz="13633" spc="-953">
                <a:gradFill>
                  <a:gsLst>
                    <a:gs pos="0">
                      <a:srgbClr val="FDFDFD">
                        <a:alpha val="100000"/>
                      </a:srgbClr>
                    </a:gs>
                    <a:gs pos="100000">
                      <a:srgbClr val="747474">
                        <a:alpha val="100000"/>
                      </a:srgbClr>
                    </a:gs>
                  </a:gsLst>
                  <a:lin ang="0"/>
                </a:gradFill>
                <a:latin typeface="Garet"/>
                <a:ea typeface="Garet"/>
                <a:cs typeface="Garet"/>
                <a:sym typeface="Gare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497</Words>
  <Application>Microsoft Office PowerPoint</Application>
  <PresentationFormat>Custom</PresentationFormat>
  <Paragraphs>65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Garet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Perceptron Hardware Demo.pptx</dc:title>
  <cp:lastModifiedBy>nityesh desai</cp:lastModifiedBy>
  <cp:revision>7</cp:revision>
  <dcterms:created xsi:type="dcterms:W3CDTF">2006-08-16T00:00:00Z</dcterms:created>
  <dcterms:modified xsi:type="dcterms:W3CDTF">2026-04-18T18:22:30Z</dcterms:modified>
  <dc:identifier>DAHHIJo586g</dc:identifier>
</cp:coreProperties>
</file>